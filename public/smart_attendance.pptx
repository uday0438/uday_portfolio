
<file path=[Content_Types].xml><?xml version="1.0" encoding="utf-8"?>
<Types xmlns="http://schemas.openxmlformats.org/package/2006/content-types">
  <Default Extension="fntdata" ContentType="application/x-fontdata"/>
  <Default Extension="jpe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6" r:id="rId9"/>
    <p:sldId id="267" r:id="rId10"/>
    <p:sldId id="270" r:id="rId11"/>
    <p:sldId id="281" r:id="rId12"/>
    <p:sldId id="282" r:id="rId13"/>
    <p:sldId id="268" r:id="rId14"/>
    <p:sldId id="285" r:id="rId15"/>
    <p:sldId id="286" r:id="rId16"/>
    <p:sldId id="261" r:id="rId17"/>
    <p:sldId id="287" r:id="rId18"/>
    <p:sldId id="271" r:id="rId19"/>
    <p:sldId id="275" r:id="rId20"/>
    <p:sldId id="278" r:id="rId21"/>
    <p:sldId id="283" r:id="rId22"/>
    <p:sldId id="280" r:id="rId23"/>
  </p:sldIdLst>
  <p:sldSz cx="24387175" cy="13716000"/>
  <p:notesSz cx="13716000" cy="24387175"/>
  <p:embeddedFontLst>
    <p:embeddedFont>
      <p:font typeface="Cabin" panose="020B0604020202020204" charset="0"/>
      <p:regular r:id="rId25"/>
    </p:embeddedFont>
    <p:embeddedFont>
      <p:font typeface="Chelsea Market" panose="020B0604020202020204" charset="0"/>
      <p:regular r:id="rId26"/>
    </p:embeddedFont>
    <p:embeddedFont>
      <p:font typeface="DM Sans" pitchFamily="2" charset="0"/>
      <p:regular r:id="rId27"/>
      <p:bold r:id="rId28"/>
      <p:italic r:id="rId29"/>
      <p:boldItalic r:id="rId30"/>
    </p:embeddedFont>
    <p:embeddedFont>
      <p:font typeface="Kanit Light" panose="020B0604020202020204" charset="0"/>
      <p:regular r:id="rId31"/>
    </p:embeddedFont>
    <p:embeddedFont>
      <p:font typeface="Libre Baskerville" panose="02000000000000000000" pitchFamily="2" charset="0"/>
      <p:regular r:id="rId32"/>
      <p:bold r:id="rId33"/>
    </p:embeddedFont>
    <p:embeddedFont>
      <p:font typeface="Martel Sans" panose="020B0604020202020204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jLCQAwVXGFZcT5Zp0v76wt3aqY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D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4713" autoAdjust="0"/>
  </p:normalViewPr>
  <p:slideViewPr>
    <p:cSldViewPr snapToGrid="0">
      <p:cViewPr varScale="1">
        <p:scale>
          <a:sx n="56" d="100"/>
          <a:sy n="56" d="100"/>
        </p:scale>
        <p:origin x="55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5e0a9deb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g35e0a9deb4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g35e0a9deb4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5e0a9deb4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g35e0a9deb46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g35e0a9deb46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5e0a9deb4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g35e0a9deb46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g35e0a9deb46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e0a9deb46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35e0a9deb46_0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35e0a9deb46_0_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e0a9deb46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5e0a9deb46_0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5e0a9deb46_0_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e0a9deb46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5e0a9deb46_0_1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35e0a9deb46_0_1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e0a9deb46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5e0a9deb46_0_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5e0a9deb46_0_1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e0a9deb46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35e0a9deb46_0_2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35e0a9deb46_0_2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5e0a9deb46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g35e0a9deb46_0_2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g35e0a9deb46_0_2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5e0a9deb46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6" name="Google Shape;426;g35e0a9deb46_0_3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g35e0a9deb46_0_3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>
          <a:extLst>
            <a:ext uri="{FF2B5EF4-FFF2-40B4-BE49-F238E27FC236}">
              <a16:creationId xmlns:a16="http://schemas.microsoft.com/office/drawing/2014/main" id="{3BCB2AAC-7444-5465-CC00-E0C73C555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5e0a9deb46_0_566:notes">
            <a:extLst>
              <a:ext uri="{FF2B5EF4-FFF2-40B4-BE49-F238E27FC236}">
                <a16:creationId xmlns:a16="http://schemas.microsoft.com/office/drawing/2014/main" id="{AC63C765-1AB3-9B9A-4EB7-AE32B12021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1" name="Google Shape;601;g35e0a9deb46_0_566:notes">
            <a:extLst>
              <a:ext uri="{FF2B5EF4-FFF2-40B4-BE49-F238E27FC236}">
                <a16:creationId xmlns:a16="http://schemas.microsoft.com/office/drawing/2014/main" id="{066F0863-18F9-2527-946E-0B4A27DB13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g35e0a9deb46_0_566:notes">
            <a:extLst>
              <a:ext uri="{FF2B5EF4-FFF2-40B4-BE49-F238E27FC236}">
                <a16:creationId xmlns:a16="http://schemas.microsoft.com/office/drawing/2014/main" id="{9DD5995A-D39A-FBF8-4157-C665B7A230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6951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0BE81D35-1105-C4CA-1B26-EF7403BCF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e0a9deb46_0_75:notes">
            <a:extLst>
              <a:ext uri="{FF2B5EF4-FFF2-40B4-BE49-F238E27FC236}">
                <a16:creationId xmlns:a16="http://schemas.microsoft.com/office/drawing/2014/main" id="{8A2231FC-B4F3-8C49-B17C-50302E14CE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35e0a9deb46_0_75:notes">
            <a:extLst>
              <a:ext uri="{FF2B5EF4-FFF2-40B4-BE49-F238E27FC236}">
                <a16:creationId xmlns:a16="http://schemas.microsoft.com/office/drawing/2014/main" id="{2D9E1CBA-11DB-7196-E653-D762335B12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35e0a9deb46_0_75:notes">
            <a:extLst>
              <a:ext uri="{FF2B5EF4-FFF2-40B4-BE49-F238E27FC236}">
                <a16:creationId xmlns:a16="http://schemas.microsoft.com/office/drawing/2014/main" id="{27CDA281-B7A3-AA10-22C8-0D1378997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5011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e0a9deb46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35e0a9deb46_0_3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5e0a9deb46_0_3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5e0a9deb46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1" name="Google Shape;601;g35e0a9deb46_0_5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g35e0a9deb46_0_5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5e0a9deb46_0_6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7" name="Google Shape;697;g35e0a9deb46_0_6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g35e0a9deb46_0_6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261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356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7322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56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810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jpe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microsoft.com/office/2007/relationships/hdphoto" Target="../media/hdphoto5.wdp"/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12" Type="http://schemas.openxmlformats.org/officeDocument/2006/relationships/image" Target="../media/image21.png"/><Relationship Id="rId17" Type="http://schemas.microsoft.com/office/2007/relationships/hdphoto" Target="../media/hdphoto7.wdp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microsoft.com/office/2007/relationships/hdphoto" Target="../media/hdphoto4.wdp"/><Relationship Id="rId5" Type="http://schemas.openxmlformats.org/officeDocument/2006/relationships/image" Target="../media/image9.png"/><Relationship Id="rId15" Type="http://schemas.microsoft.com/office/2007/relationships/hdphoto" Target="../media/hdphoto6.wdp"/><Relationship Id="rId10" Type="http://schemas.openxmlformats.org/officeDocument/2006/relationships/image" Target="../media/image20.png"/><Relationship Id="rId4" Type="http://schemas.openxmlformats.org/officeDocument/2006/relationships/image" Target="../media/image8.png"/><Relationship Id="rId9" Type="http://schemas.microsoft.com/office/2007/relationships/hdphoto" Target="../media/hdphoto3.wdp"/><Relationship Id="rId1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DF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g35e0a9deb46_0_0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74772" y="-647700"/>
            <a:ext cx="12511064" cy="1267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g35e0a9deb46_0_0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041530" y="5689600"/>
            <a:ext cx="13057232" cy="100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g35e0a9deb46_0_0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623953" y="8585200"/>
            <a:ext cx="4229629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g35e0a9deb46_0_0"/>
          <p:cNvSpPr/>
          <p:nvPr/>
        </p:nvSpPr>
        <p:spPr>
          <a:xfrm>
            <a:off x="-182056" y="3987800"/>
            <a:ext cx="15249778" cy="9131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7800"/>
              <a:buFont typeface="Chelsea Market"/>
              <a:buNone/>
            </a:pPr>
            <a:r>
              <a:rPr lang="en-US" sz="17800" b="0" i="0" u="none" strike="noStrike" cap="none" dirty="0">
                <a:solidFill>
                  <a:srgbClr val="272727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 SMART</a:t>
            </a:r>
            <a:endParaRPr lang="en-US" sz="17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B4A9C"/>
              </a:buClr>
              <a:buSzPts val="17800"/>
              <a:buFont typeface="Chelsea Market"/>
              <a:buNone/>
            </a:pPr>
            <a:r>
              <a:rPr lang="en-US" sz="17800" b="0" i="0" u="none" strike="noStrike" cap="none" dirty="0">
                <a:solidFill>
                  <a:srgbClr val="2B4A9C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ATTENDANCE</a:t>
            </a:r>
          </a:p>
          <a:p>
            <a:pPr lvl="0" algn="r">
              <a:buClr>
                <a:srgbClr val="2B4A9C"/>
              </a:buClr>
              <a:buSzPts val="17800"/>
            </a:pPr>
            <a:r>
              <a:rPr lang="en-US" sz="17800" dirty="0">
                <a:solidFill>
                  <a:srgbClr val="272727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SYSTEM</a:t>
            </a:r>
            <a:endParaRPr lang="en-US" sz="17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5e0a9deb46_0_0"/>
          <p:cNvSpPr/>
          <p:nvPr/>
        </p:nvSpPr>
        <p:spPr>
          <a:xfrm>
            <a:off x="3251606" y="12661900"/>
            <a:ext cx="181548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6083C5"/>
              </a:buClr>
              <a:buSzPts val="6400"/>
              <a:buFont typeface="DM Sans"/>
              <a:buNone/>
            </a:pPr>
            <a:r>
              <a:rPr lang="en-US" sz="6400" b="1" i="0" u="none" strike="noStrike" cap="none" dirty="0">
                <a:solidFill>
                  <a:srgbClr val="6083C5"/>
                </a:solidFill>
                <a:latin typeface="Chelsea Market" panose="020B0604020202020204" charset="0"/>
                <a:ea typeface="DM Sans"/>
                <a:cs typeface="DM Sans"/>
                <a:sym typeface="DM Sans"/>
              </a:rPr>
              <a:t> VIA FACE RECOGNITION  </a:t>
            </a:r>
            <a:endParaRPr sz="6400" b="0" i="0" u="none" strike="noStrike" cap="none" dirty="0">
              <a:solidFill>
                <a:schemeClr val="dk1"/>
              </a:solidFill>
              <a:latin typeface="Chelsea Marke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g35e0a9deb46_0_0"/>
          <p:cNvSpPr/>
          <p:nvPr/>
        </p:nvSpPr>
        <p:spPr>
          <a:xfrm>
            <a:off x="23370921" y="10515600"/>
            <a:ext cx="1016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FA8991-9390-99CF-DE44-832AF0371F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0155" y="1692551"/>
            <a:ext cx="5527596" cy="71520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233338-4CDC-77A9-7D0B-BCB19D0663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041918" y="11810438"/>
            <a:ext cx="2143125" cy="2143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6E2985-764B-504F-9C20-83BF6331E7A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94" b="35363"/>
          <a:stretch>
            <a:fillRect/>
          </a:stretch>
        </p:blipFill>
        <p:spPr>
          <a:xfrm>
            <a:off x="610286" y="426983"/>
            <a:ext cx="9753600" cy="31350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DF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g35e0a9deb46_0_12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52006" y="-774700"/>
            <a:ext cx="14683035" cy="1526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g35e0a9deb46_0_12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52581" y="11836400"/>
            <a:ext cx="3746968" cy="374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g35e0a9deb46_0_12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67" y="1790700"/>
            <a:ext cx="3442130" cy="344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g35e0a9deb46_0_12"/>
          <p:cNvSpPr/>
          <p:nvPr/>
        </p:nvSpPr>
        <p:spPr>
          <a:xfrm>
            <a:off x="23370921" y="10515600"/>
            <a:ext cx="1016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g35e0a9deb46_0_12"/>
          <p:cNvSpPr/>
          <p:nvPr/>
        </p:nvSpPr>
        <p:spPr>
          <a:xfrm>
            <a:off x="8137484" y="4394200"/>
            <a:ext cx="8124900" cy="26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2800"/>
              <a:buFont typeface="Chelsea Market"/>
              <a:buNone/>
            </a:pPr>
            <a:r>
              <a:rPr lang="en-US" sz="12800" b="0" i="0" u="none" strike="noStrike" cap="none" dirty="0">
                <a:solidFill>
                  <a:srgbClr val="272727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Welcome</a:t>
            </a:r>
            <a:endParaRPr sz="1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35e0a9deb46_0_12"/>
          <p:cNvSpPr/>
          <p:nvPr/>
        </p:nvSpPr>
        <p:spPr>
          <a:xfrm>
            <a:off x="5000192" y="6921500"/>
            <a:ext cx="14399400" cy="35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0E0E0E"/>
              </a:buClr>
              <a:buSzPts val="3200"/>
            </a:pPr>
            <a:r>
              <a:rPr lang="en-US" sz="3200" dirty="0">
                <a:latin typeface="DM Sans" pitchFamily="2" charset="0"/>
              </a:rPr>
              <a:t>“Welcome to the presentation on our project, </a:t>
            </a:r>
            <a:r>
              <a:rPr lang="en-US" sz="3200" i="1" dirty="0">
                <a:latin typeface="DM Sans" pitchFamily="2" charset="0"/>
              </a:rPr>
              <a:t>Smart Contactless Attendance System using HUSKY LENS &amp; ESP32 </a:t>
            </a:r>
            <a:r>
              <a:rPr lang="en-US" sz="3200" dirty="0">
                <a:latin typeface="DM Sans" pitchFamily="2" charset="0"/>
              </a:rPr>
              <a:t>.This innovative system leverages IoT and computer vision to automate and simplify attendance tracking . We are pleased to present our work, highlighting its objectives, design, and real-world applications.”</a:t>
            </a:r>
            <a:endParaRPr sz="3200" b="0" i="0" u="none" strike="noStrike" cap="none" dirty="0">
              <a:solidFill>
                <a:schemeClr val="dk1"/>
              </a:solidFill>
              <a:latin typeface="DM Sans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DF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g35e0a9deb46_0_23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115314" y="-2095500"/>
            <a:ext cx="17947343" cy="895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g35e0a9deb46_0_23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606826" y="6858000"/>
            <a:ext cx="11596549" cy="948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g35e0a9deb46_0_23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4232" y="9042400"/>
            <a:ext cx="3937492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g35e0a9deb46_0_23"/>
          <p:cNvSpPr/>
          <p:nvPr/>
        </p:nvSpPr>
        <p:spPr>
          <a:xfrm>
            <a:off x="23370921" y="10515600"/>
            <a:ext cx="1016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g35e0a9deb46_0_23"/>
          <p:cNvSpPr/>
          <p:nvPr/>
        </p:nvSpPr>
        <p:spPr>
          <a:xfrm>
            <a:off x="4864708" y="1320800"/>
            <a:ext cx="15199500" cy="26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272727"/>
              </a:buClr>
              <a:buSzPts val="12800"/>
            </a:pPr>
            <a:r>
              <a:rPr lang="en-US" sz="9600" dirty="0">
                <a:solidFill>
                  <a:schemeClr val="tx1"/>
                </a:solidFill>
                <a:latin typeface="Chelsea Market" panose="020B0604020202020204" charset="0"/>
                <a:ea typeface="Merriweather" pitchFamily="34" charset="-122"/>
                <a:cs typeface="Merriweather" pitchFamily="34" charset="-120"/>
              </a:rPr>
              <a:t>Navigating Our Journey</a:t>
            </a:r>
            <a:endParaRPr lang="en-US" sz="9600" dirty="0">
              <a:solidFill>
                <a:schemeClr val="tx1"/>
              </a:solidFill>
              <a:latin typeface="Chelsea Market" panose="020B0604020202020204" charset="0"/>
            </a:endParaRPr>
          </a:p>
        </p:txBody>
      </p:sp>
      <p:sp>
        <p:nvSpPr>
          <p:cNvPr id="47" name="Google Shape;47;g35e0a9deb46_0_23"/>
          <p:cNvSpPr/>
          <p:nvPr/>
        </p:nvSpPr>
        <p:spPr>
          <a:xfrm>
            <a:off x="4051806" y="4521200"/>
            <a:ext cx="7760700" cy="16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g35e0a9deb46_0_23"/>
          <p:cNvSpPr/>
          <p:nvPr/>
        </p:nvSpPr>
        <p:spPr>
          <a:xfrm>
            <a:off x="4051806" y="4629150"/>
            <a:ext cx="59316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35e0a9deb46_0_23"/>
          <p:cNvSpPr/>
          <p:nvPr/>
        </p:nvSpPr>
        <p:spPr>
          <a:xfrm>
            <a:off x="3565871" y="4102200"/>
            <a:ext cx="6135000" cy="9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Chelsea Market"/>
              <a:buNone/>
            </a:pPr>
            <a:r>
              <a:rPr lang="en-US" sz="4800" b="0" i="0" u="none" strike="noStrike" cap="none" dirty="0">
                <a:solidFill>
                  <a:srgbClr val="0E0E0E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Introduction &amp; Project overview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g35e0a9deb46_0_23"/>
          <p:cNvSpPr/>
          <p:nvPr/>
        </p:nvSpPr>
        <p:spPr>
          <a:xfrm>
            <a:off x="3044277" y="5668500"/>
            <a:ext cx="6640755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3100"/>
              </a:lnSpc>
            </a:pPr>
            <a:r>
              <a:rPr lang="en-US" sz="3200" dirty="0">
                <a:solidFill>
                  <a:schemeClr val="tx1"/>
                </a:solidFill>
                <a:latin typeface="DM Sans" pitchFamily="2" charset="0"/>
                <a:ea typeface="Merriweather" pitchFamily="34" charset="-122"/>
                <a:cs typeface="Merriweather" pitchFamily="34" charset="-120"/>
              </a:rPr>
              <a:t>Understanding the core purpose of the Smart Contactless Attendance System</a:t>
            </a:r>
            <a:endParaRPr lang="en-US" sz="3200" dirty="0">
              <a:solidFill>
                <a:schemeClr val="tx1"/>
              </a:solidFill>
              <a:latin typeface="DM Sans" pitchFamily="2" charset="0"/>
            </a:endParaRPr>
          </a:p>
        </p:txBody>
      </p:sp>
      <p:pic>
        <p:nvPicPr>
          <p:cNvPr id="51" name="Google Shape;51;g35e0a9deb46_0_23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86673" y="4521200"/>
            <a:ext cx="1625803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g35e0a9deb46_0_23"/>
          <p:cNvSpPr/>
          <p:nvPr/>
        </p:nvSpPr>
        <p:spPr>
          <a:xfrm>
            <a:off x="10186673" y="4521200"/>
            <a:ext cx="1625700" cy="1625700"/>
          </a:xfrm>
          <a:prstGeom prst="roundRect">
            <a:avLst>
              <a:gd name="adj" fmla="val 781313"/>
            </a:avLst>
          </a:prstGeom>
          <a:noFill/>
          <a:ln w="50800" cap="flat" cmpd="sng">
            <a:solidFill>
              <a:srgbClr val="364A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35e0a9deb46_0_23"/>
          <p:cNvSpPr/>
          <p:nvPr/>
        </p:nvSpPr>
        <p:spPr>
          <a:xfrm>
            <a:off x="10624878" y="4845050"/>
            <a:ext cx="749400" cy="9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64AB7"/>
              </a:buClr>
              <a:buSzPts val="4800"/>
              <a:buFont typeface="Chelsea Market"/>
              <a:buNone/>
            </a:pPr>
            <a:r>
              <a:rPr lang="en-US" sz="4800" b="0" i="0" u="none" strike="noStrike" cap="none">
                <a:solidFill>
                  <a:srgbClr val="364AB7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01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5e0a9deb46_0_23"/>
          <p:cNvSpPr/>
          <p:nvPr/>
        </p:nvSpPr>
        <p:spPr>
          <a:xfrm>
            <a:off x="12574572" y="4521200"/>
            <a:ext cx="7760700" cy="16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g35e0a9deb46_0_23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574572" y="4521200"/>
            <a:ext cx="1625803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g35e0a9deb46_0_23"/>
          <p:cNvSpPr/>
          <p:nvPr/>
        </p:nvSpPr>
        <p:spPr>
          <a:xfrm>
            <a:off x="12574572" y="4521200"/>
            <a:ext cx="1625700" cy="1625700"/>
          </a:xfrm>
          <a:prstGeom prst="roundRect">
            <a:avLst>
              <a:gd name="adj" fmla="val 781313"/>
            </a:avLst>
          </a:prstGeom>
          <a:noFill/>
          <a:ln w="50800" cap="flat" cmpd="sng">
            <a:solidFill>
              <a:srgbClr val="364A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g35e0a9deb46_0_23"/>
          <p:cNvSpPr/>
          <p:nvPr/>
        </p:nvSpPr>
        <p:spPr>
          <a:xfrm>
            <a:off x="12923865" y="4845050"/>
            <a:ext cx="927300" cy="9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64AB7"/>
              </a:buClr>
              <a:buSzPts val="4800"/>
              <a:buFont typeface="Chelsea Market"/>
              <a:buNone/>
            </a:pPr>
            <a:r>
              <a:rPr lang="en-US" sz="4800" b="0" i="0" u="none" strike="noStrike" cap="none">
                <a:solidFill>
                  <a:srgbClr val="364AB7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02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5e0a9deb46_0_23"/>
          <p:cNvSpPr/>
          <p:nvPr/>
        </p:nvSpPr>
        <p:spPr>
          <a:xfrm>
            <a:off x="14403600" y="4629150"/>
            <a:ext cx="59316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g35e0a9deb46_0_23"/>
          <p:cNvSpPr/>
          <p:nvPr/>
        </p:nvSpPr>
        <p:spPr>
          <a:xfrm>
            <a:off x="14403600" y="4362450"/>
            <a:ext cx="6135000" cy="9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Chelsea Market"/>
              <a:buNone/>
            </a:pPr>
            <a:r>
              <a:rPr lang="en-US" sz="4800" dirty="0">
                <a:solidFill>
                  <a:srgbClr val="0E0E0E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C</a:t>
            </a:r>
            <a:r>
              <a:rPr lang="en-US" sz="4800" b="0" i="0" u="none" strike="noStrike" cap="none" dirty="0">
                <a:solidFill>
                  <a:srgbClr val="0E0E0E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ore Functionality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5e0a9deb46_0_23"/>
          <p:cNvSpPr/>
          <p:nvPr/>
        </p:nvSpPr>
        <p:spPr>
          <a:xfrm>
            <a:off x="14460750" y="5257800"/>
            <a:ext cx="60672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2600"/>
              </a:lnSpc>
            </a:pPr>
            <a:r>
              <a:rPr lang="en-US" sz="32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How hardware and software integrate.</a:t>
            </a:r>
            <a:endParaRPr lang="en-US" sz="32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61" name="Google Shape;61;g35e0a9deb46_0_23"/>
          <p:cNvSpPr/>
          <p:nvPr/>
        </p:nvSpPr>
        <p:spPr>
          <a:xfrm>
            <a:off x="4051806" y="7505700"/>
            <a:ext cx="7760700" cy="16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35e0a9deb46_0_23"/>
          <p:cNvSpPr/>
          <p:nvPr/>
        </p:nvSpPr>
        <p:spPr>
          <a:xfrm>
            <a:off x="4051806" y="7613650"/>
            <a:ext cx="59316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5e0a9deb46_0_23"/>
          <p:cNvSpPr/>
          <p:nvPr/>
        </p:nvSpPr>
        <p:spPr>
          <a:xfrm>
            <a:off x="3004037" y="7689950"/>
            <a:ext cx="6687253" cy="98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Chelsea Market"/>
              <a:buNone/>
            </a:pPr>
            <a:r>
              <a:rPr lang="en-US" sz="4800" dirty="0">
                <a:solidFill>
                  <a:srgbClr val="0E0E0E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C</a:t>
            </a:r>
            <a:r>
              <a:rPr lang="en-US" sz="4800" b="0" i="0" u="none" strike="noStrike" cap="none" dirty="0">
                <a:solidFill>
                  <a:srgbClr val="0E0E0E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omponent Checklist</a:t>
            </a:r>
          </a:p>
        </p:txBody>
      </p:sp>
      <p:sp>
        <p:nvSpPr>
          <p:cNvPr id="64" name="Google Shape;64;g35e0a9deb46_0_23"/>
          <p:cNvSpPr/>
          <p:nvPr/>
        </p:nvSpPr>
        <p:spPr>
          <a:xfrm>
            <a:off x="3289740" y="8721675"/>
            <a:ext cx="7705352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2600"/>
              </a:lnSpc>
            </a:pPr>
            <a:r>
              <a:rPr lang="en-US" sz="32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Detailed look at essential hardware</a:t>
            </a:r>
          </a:p>
          <a:p>
            <a:pPr>
              <a:lnSpc>
                <a:spcPts val="2600"/>
              </a:lnSpc>
            </a:pPr>
            <a:r>
              <a:rPr lang="en-US" sz="32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 and software.</a:t>
            </a:r>
            <a:endParaRPr lang="en-US" sz="3200" dirty="0">
              <a:solidFill>
                <a:schemeClr val="tx1"/>
              </a:solidFill>
              <a:latin typeface="DM Sans" pitchFamily="2" charset="0"/>
            </a:endParaRPr>
          </a:p>
        </p:txBody>
      </p:sp>
      <p:pic>
        <p:nvPicPr>
          <p:cNvPr id="65" name="Google Shape;65;g35e0a9deb46_0_23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86673" y="7505700"/>
            <a:ext cx="1625803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5e0a9deb46_0_23"/>
          <p:cNvSpPr/>
          <p:nvPr/>
        </p:nvSpPr>
        <p:spPr>
          <a:xfrm>
            <a:off x="10186673" y="7505700"/>
            <a:ext cx="1625700" cy="1625700"/>
          </a:xfrm>
          <a:prstGeom prst="roundRect">
            <a:avLst>
              <a:gd name="adj" fmla="val 781313"/>
            </a:avLst>
          </a:prstGeom>
          <a:noFill/>
          <a:ln w="50800" cap="flat" cmpd="sng">
            <a:solidFill>
              <a:srgbClr val="364A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35e0a9deb46_0_23"/>
          <p:cNvSpPr/>
          <p:nvPr/>
        </p:nvSpPr>
        <p:spPr>
          <a:xfrm>
            <a:off x="10535967" y="7829550"/>
            <a:ext cx="927300" cy="9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64AB7"/>
              </a:buClr>
              <a:buSzPts val="4800"/>
              <a:buFont typeface="Chelsea Market"/>
              <a:buNone/>
            </a:pPr>
            <a:r>
              <a:rPr lang="en-US" sz="4800" b="0" i="0" u="none" strike="noStrike" cap="none">
                <a:solidFill>
                  <a:srgbClr val="364AB7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03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5e0a9deb46_0_23"/>
          <p:cNvSpPr/>
          <p:nvPr/>
        </p:nvSpPr>
        <p:spPr>
          <a:xfrm>
            <a:off x="12574572" y="7505700"/>
            <a:ext cx="7760700" cy="16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Google Shape;69;g35e0a9deb46_0_23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574572" y="7505700"/>
            <a:ext cx="1625803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5e0a9deb46_0_23"/>
          <p:cNvSpPr/>
          <p:nvPr/>
        </p:nvSpPr>
        <p:spPr>
          <a:xfrm>
            <a:off x="12574572" y="7505700"/>
            <a:ext cx="1625700" cy="1625700"/>
          </a:xfrm>
          <a:prstGeom prst="roundRect">
            <a:avLst>
              <a:gd name="adj" fmla="val 781313"/>
            </a:avLst>
          </a:prstGeom>
          <a:noFill/>
          <a:ln w="50800" cap="flat" cmpd="sng">
            <a:solidFill>
              <a:srgbClr val="364A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35e0a9deb46_0_23"/>
          <p:cNvSpPr/>
          <p:nvPr/>
        </p:nvSpPr>
        <p:spPr>
          <a:xfrm>
            <a:off x="12923865" y="7829550"/>
            <a:ext cx="927300" cy="9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64AB7"/>
              </a:buClr>
              <a:buSzPts val="4800"/>
              <a:buFont typeface="Chelsea Market"/>
              <a:buNone/>
            </a:pPr>
            <a:r>
              <a:rPr lang="en-US" sz="4800" b="0" i="0" u="none" strike="noStrike" cap="none">
                <a:solidFill>
                  <a:srgbClr val="364AB7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04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5e0a9deb46_0_23"/>
          <p:cNvSpPr/>
          <p:nvPr/>
        </p:nvSpPr>
        <p:spPr>
          <a:xfrm>
            <a:off x="14403600" y="7613650"/>
            <a:ext cx="59316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35e0a9deb46_0_23"/>
          <p:cNvSpPr/>
          <p:nvPr/>
        </p:nvSpPr>
        <p:spPr>
          <a:xfrm>
            <a:off x="14447974" y="7185900"/>
            <a:ext cx="6135000" cy="9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Chelsea Market"/>
              <a:buNone/>
            </a:pPr>
            <a:r>
              <a:rPr lang="en-US" sz="4800" dirty="0">
                <a:solidFill>
                  <a:srgbClr val="0E0E0E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I</a:t>
            </a:r>
            <a:r>
              <a:rPr lang="en-US" sz="4800" b="0" i="0" u="none" strike="noStrike" cap="none" dirty="0">
                <a:solidFill>
                  <a:srgbClr val="0E0E0E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mplementation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Chelsea Market"/>
              <a:buNone/>
            </a:pPr>
            <a:r>
              <a:rPr lang="en-US" sz="4800" dirty="0">
                <a:solidFill>
                  <a:srgbClr val="0E0E0E"/>
                </a:solidFill>
                <a:latin typeface="Chelsea Market"/>
                <a:ea typeface="Calibri"/>
                <a:cs typeface="Calibri"/>
                <a:sym typeface="Chelsea Market"/>
              </a:rPr>
              <a:t>Steps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5e0a9deb46_0_23"/>
          <p:cNvSpPr/>
          <p:nvPr/>
        </p:nvSpPr>
        <p:spPr>
          <a:xfrm>
            <a:off x="14460750" y="8775700"/>
            <a:ext cx="60672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2600"/>
              </a:lnSpc>
            </a:pPr>
            <a:r>
              <a:rPr lang="en-US" sz="32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A practical guide to building the system.</a:t>
            </a:r>
            <a:endParaRPr lang="en-US" sz="32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75" name="Google Shape;75;g35e0a9deb46_0_23"/>
          <p:cNvSpPr/>
          <p:nvPr/>
        </p:nvSpPr>
        <p:spPr>
          <a:xfrm>
            <a:off x="4051806" y="10490200"/>
            <a:ext cx="7760700" cy="16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g35e0a9deb46_0_23"/>
          <p:cNvSpPr/>
          <p:nvPr/>
        </p:nvSpPr>
        <p:spPr>
          <a:xfrm>
            <a:off x="4051806" y="10598150"/>
            <a:ext cx="59316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g35e0a9deb46_0_23"/>
          <p:cNvSpPr/>
          <p:nvPr/>
        </p:nvSpPr>
        <p:spPr>
          <a:xfrm>
            <a:off x="3664275" y="10248800"/>
            <a:ext cx="6135000" cy="9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Chelsea Market"/>
              <a:buNone/>
            </a:pPr>
            <a:r>
              <a:rPr lang="en-US" sz="4800" b="0" i="0" u="none" strike="noStrike" cap="none" dirty="0">
                <a:solidFill>
                  <a:srgbClr val="0E0E0E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Advance Capabilities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5e0a9deb46_0_23"/>
          <p:cNvSpPr/>
          <p:nvPr/>
        </p:nvSpPr>
        <p:spPr>
          <a:xfrm>
            <a:off x="3802022" y="11760200"/>
            <a:ext cx="6530617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3100"/>
              </a:lnSpc>
            </a:pPr>
            <a:r>
              <a:rPr lang="en-US" sz="3200" dirty="0">
                <a:solidFill>
                  <a:schemeClr val="tx1"/>
                </a:solidFill>
                <a:latin typeface="DM Sans" pitchFamily="2" charset="0"/>
                <a:ea typeface="Merriweather" pitchFamily="34" charset="-122"/>
                <a:cs typeface="Merriweather" pitchFamily="34" charset="-120"/>
              </a:rPr>
              <a:t>Exploring potential enhancements</a:t>
            </a:r>
          </a:p>
          <a:p>
            <a:pPr>
              <a:lnSpc>
                <a:spcPts val="3100"/>
              </a:lnSpc>
            </a:pPr>
            <a:r>
              <a:rPr lang="en-US" sz="3200" dirty="0">
                <a:solidFill>
                  <a:schemeClr val="tx1"/>
                </a:solidFill>
                <a:latin typeface="DM Sans" pitchFamily="2" charset="0"/>
                <a:ea typeface="Merriweather" pitchFamily="34" charset="-122"/>
                <a:cs typeface="Merriweather" pitchFamily="34" charset="-120"/>
              </a:rPr>
              <a:t> and next steps.</a:t>
            </a:r>
            <a:endParaRPr lang="en-US" sz="3200" dirty="0">
              <a:solidFill>
                <a:schemeClr val="tx1"/>
              </a:solidFill>
              <a:latin typeface="DM Sans" pitchFamily="2" charset="0"/>
            </a:endParaRPr>
          </a:p>
        </p:txBody>
      </p:sp>
      <p:pic>
        <p:nvPicPr>
          <p:cNvPr id="79" name="Google Shape;79;g35e0a9deb46_0_23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86673" y="10490200"/>
            <a:ext cx="1625803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5e0a9deb46_0_23"/>
          <p:cNvSpPr/>
          <p:nvPr/>
        </p:nvSpPr>
        <p:spPr>
          <a:xfrm>
            <a:off x="10186673" y="10490200"/>
            <a:ext cx="1625700" cy="1625700"/>
          </a:xfrm>
          <a:prstGeom prst="roundRect">
            <a:avLst>
              <a:gd name="adj" fmla="val 781313"/>
            </a:avLst>
          </a:prstGeom>
          <a:noFill/>
          <a:ln w="50800" cap="flat" cmpd="sng">
            <a:solidFill>
              <a:srgbClr val="364A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35e0a9deb46_0_23"/>
          <p:cNvSpPr/>
          <p:nvPr/>
        </p:nvSpPr>
        <p:spPr>
          <a:xfrm>
            <a:off x="10535967" y="10814050"/>
            <a:ext cx="927300" cy="9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64AB7"/>
              </a:buClr>
              <a:buSzPts val="4800"/>
              <a:buFont typeface="Chelsea Market"/>
              <a:buNone/>
            </a:pPr>
            <a:r>
              <a:rPr lang="en-US" sz="4800" b="0" i="0" u="none" strike="noStrike" cap="none">
                <a:solidFill>
                  <a:srgbClr val="364AB7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05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5e0a9deb46_0_23"/>
          <p:cNvSpPr/>
          <p:nvPr/>
        </p:nvSpPr>
        <p:spPr>
          <a:xfrm>
            <a:off x="12574572" y="10490200"/>
            <a:ext cx="7760700" cy="16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" name="Google Shape;83;g35e0a9deb46_0_23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574572" y="10490200"/>
            <a:ext cx="1625803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5e0a9deb46_0_23"/>
          <p:cNvSpPr/>
          <p:nvPr/>
        </p:nvSpPr>
        <p:spPr>
          <a:xfrm>
            <a:off x="12574572" y="10490200"/>
            <a:ext cx="1625700" cy="1625700"/>
          </a:xfrm>
          <a:prstGeom prst="roundRect">
            <a:avLst>
              <a:gd name="adj" fmla="val 781313"/>
            </a:avLst>
          </a:prstGeom>
          <a:noFill/>
          <a:ln w="50800" cap="flat" cmpd="sng">
            <a:solidFill>
              <a:srgbClr val="364A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g35e0a9deb46_0_23"/>
          <p:cNvSpPr/>
          <p:nvPr/>
        </p:nvSpPr>
        <p:spPr>
          <a:xfrm>
            <a:off x="12949268" y="10814050"/>
            <a:ext cx="876300" cy="9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64AB7"/>
              </a:buClr>
              <a:buSzPts val="4800"/>
              <a:buFont typeface="Chelsea Market"/>
              <a:buNone/>
            </a:pPr>
            <a:r>
              <a:rPr lang="en-US" sz="4800" b="0" i="0" u="none" strike="noStrike" cap="none">
                <a:solidFill>
                  <a:srgbClr val="364AB7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06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5e0a9deb46_0_23"/>
          <p:cNvSpPr/>
          <p:nvPr/>
        </p:nvSpPr>
        <p:spPr>
          <a:xfrm>
            <a:off x="14403600" y="10598150"/>
            <a:ext cx="59316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35e0a9deb46_0_23"/>
          <p:cNvSpPr/>
          <p:nvPr/>
        </p:nvSpPr>
        <p:spPr>
          <a:xfrm>
            <a:off x="14403600" y="10598150"/>
            <a:ext cx="6135000" cy="9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Chelsea Market"/>
              <a:buNone/>
            </a:pPr>
            <a:r>
              <a:rPr lang="en-US" sz="4800" b="0" i="0" u="none" strike="noStrike" cap="none">
                <a:solidFill>
                  <a:srgbClr val="0E0E0E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Conclusion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5e0a9deb46_0_23"/>
          <p:cNvSpPr/>
          <p:nvPr/>
        </p:nvSpPr>
        <p:spPr>
          <a:xfrm>
            <a:off x="14403600" y="11474450"/>
            <a:ext cx="60672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0E0E0E"/>
              </a:buClr>
              <a:buSzPts val="3200"/>
            </a:pPr>
            <a:r>
              <a:rPr lang="en-IN" sz="3200" dirty="0">
                <a:latin typeface="DM Sans" pitchFamily="2" charset="0"/>
              </a:rPr>
              <a:t>Summing It Up</a:t>
            </a:r>
            <a:endParaRPr sz="3200" b="0" i="0" u="none" strike="noStrike" cap="none" dirty="0">
              <a:solidFill>
                <a:schemeClr val="dk1"/>
              </a:solidFill>
              <a:latin typeface="DM Sans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DF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35e0a9deb46_0_75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81048" y="6403094"/>
            <a:ext cx="15775372" cy="876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35e0a9deb46_0_75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78597" y="-1943100"/>
            <a:ext cx="17947343" cy="895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5e0a9deb46_0_75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191" y="-2082800"/>
            <a:ext cx="4229629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5e0a9deb46_0_75"/>
          <p:cNvSpPr/>
          <p:nvPr/>
        </p:nvSpPr>
        <p:spPr>
          <a:xfrm>
            <a:off x="23370921" y="10515600"/>
            <a:ext cx="1016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5e0a9deb46_0_75"/>
          <p:cNvSpPr/>
          <p:nvPr/>
        </p:nvSpPr>
        <p:spPr>
          <a:xfrm>
            <a:off x="2959470" y="1752600"/>
            <a:ext cx="16647600" cy="16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8000"/>
              <a:buFont typeface="Chelsea Market"/>
              <a:buNone/>
            </a:pPr>
            <a:r>
              <a:rPr lang="en-US" sz="8000" b="0" i="0" u="none" strike="noStrike" cap="none" dirty="0">
                <a:solidFill>
                  <a:srgbClr val="272727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INTRODUCTION</a:t>
            </a:r>
            <a:endParaRPr sz="8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C1BB63E-A8E6-A474-A566-194D0F91F4FE}"/>
              </a:ext>
            </a:extLst>
          </p:cNvPr>
          <p:cNvSpPr/>
          <p:nvPr/>
        </p:nvSpPr>
        <p:spPr>
          <a:xfrm>
            <a:off x="1524191" y="3794308"/>
            <a:ext cx="8871823" cy="922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5600" dirty="0">
                <a:solidFill>
                  <a:schemeClr val="accent1"/>
                </a:solidFill>
                <a:latin typeface="Chelsea Market" panose="020B0604020202020204" charset="0"/>
                <a:ea typeface="Unbounded" pitchFamily="34" charset="-122"/>
                <a:cs typeface="Unbounded" pitchFamily="34" charset="-120"/>
              </a:rPr>
              <a:t>Why Contactless Attendance?</a:t>
            </a:r>
            <a:endParaRPr lang="en-US" sz="5600" dirty="0">
              <a:solidFill>
                <a:schemeClr val="accent1"/>
              </a:solidFill>
              <a:latin typeface="Chelsea Market" panose="020B060402020202020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7B41B3-66DB-B6A7-DE5A-41BCFB7FBDEA}"/>
              </a:ext>
            </a:extLst>
          </p:cNvPr>
          <p:cNvSpPr/>
          <p:nvPr/>
        </p:nvSpPr>
        <p:spPr>
          <a:xfrm>
            <a:off x="1524191" y="4878254"/>
            <a:ext cx="12338924" cy="1904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In today's environment, hygiene and automation are paramount. Manual attendance systems are:</a:t>
            </a:r>
            <a:endParaRPr lang="en-US" sz="40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0F30C3B-C952-DACF-3F5C-3F75AE02FEAA}"/>
              </a:ext>
            </a:extLst>
          </p:cNvPr>
          <p:cNvSpPr/>
          <p:nvPr/>
        </p:nvSpPr>
        <p:spPr>
          <a:xfrm>
            <a:off x="1524191" y="6725279"/>
            <a:ext cx="8640788" cy="174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40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Time-consuming and inefficient.</a:t>
            </a:r>
            <a:endParaRPr lang="en-US" sz="40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C68F28F-7824-F9E0-40E0-29B2BA0C4E7B}"/>
              </a:ext>
            </a:extLst>
          </p:cNvPr>
          <p:cNvSpPr/>
          <p:nvPr/>
        </p:nvSpPr>
        <p:spPr>
          <a:xfrm>
            <a:off x="1524191" y="7342897"/>
            <a:ext cx="9994530" cy="6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40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Prone to errors and proxy attendance.</a:t>
            </a:r>
            <a:endParaRPr lang="en-US" sz="40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6D3AC2-66D6-44F4-063E-2CF5761DE605}"/>
              </a:ext>
            </a:extLst>
          </p:cNvPr>
          <p:cNvSpPr/>
          <p:nvPr/>
        </p:nvSpPr>
        <p:spPr>
          <a:xfrm>
            <a:off x="1524191" y="8015234"/>
            <a:ext cx="15099930" cy="650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40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Require physical contact (pens, registers), </a:t>
            </a:r>
          </a:p>
          <a:p>
            <a:pPr algn="l">
              <a:buSzPct val="100000"/>
            </a:pPr>
            <a:r>
              <a:rPr lang="en-US" sz="40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   posing health risks.</a:t>
            </a:r>
            <a:endParaRPr lang="en-US" sz="40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94A8145-F54A-3C7F-C700-1C15E7310D56}"/>
              </a:ext>
            </a:extLst>
          </p:cNvPr>
          <p:cNvSpPr/>
          <p:nvPr/>
        </p:nvSpPr>
        <p:spPr>
          <a:xfrm>
            <a:off x="5187077" y="11972806"/>
            <a:ext cx="13247846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Our solution offers a modern, accurate, and hygienic alternative, streamlining the attendance process for institutions.</a:t>
            </a:r>
            <a:endParaRPr lang="en-US" sz="13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18C310-78EE-E77F-1E82-AD5ABAFB30E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431"/>
          <a:stretch>
            <a:fillRect/>
          </a:stretch>
        </p:blipFill>
        <p:spPr>
          <a:xfrm>
            <a:off x="13693708" y="5554531"/>
            <a:ext cx="10129889" cy="63712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DF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35e0a9deb46_0_87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74772" y="-647700"/>
            <a:ext cx="12511064" cy="1267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35e0a9deb46_0_87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053418" y="4658678"/>
            <a:ext cx="13057232" cy="100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5e0a9deb46_0_87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623953" y="8585200"/>
            <a:ext cx="4229629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5e0a9deb46_0_87"/>
          <p:cNvSpPr/>
          <p:nvPr/>
        </p:nvSpPr>
        <p:spPr>
          <a:xfrm>
            <a:off x="23370921" y="10515600"/>
            <a:ext cx="1016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35e0a9deb46_0_87"/>
          <p:cNvSpPr/>
          <p:nvPr/>
        </p:nvSpPr>
        <p:spPr>
          <a:xfrm>
            <a:off x="1816327" y="9499600"/>
            <a:ext cx="9907200" cy="25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5e0a9deb46_0_87"/>
          <p:cNvSpPr/>
          <p:nvPr/>
        </p:nvSpPr>
        <p:spPr>
          <a:xfrm>
            <a:off x="4086416" y="9499600"/>
            <a:ext cx="7637100" cy="25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35e0a9deb46_0_87"/>
          <p:cNvSpPr/>
          <p:nvPr/>
        </p:nvSpPr>
        <p:spPr>
          <a:xfrm>
            <a:off x="12676184" y="9499600"/>
            <a:ext cx="9907200" cy="25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5e0a9deb46_0_87"/>
          <p:cNvSpPr/>
          <p:nvPr/>
        </p:nvSpPr>
        <p:spPr>
          <a:xfrm>
            <a:off x="14470795" y="9499600"/>
            <a:ext cx="8112600" cy="25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2BB86D9-5CC4-549F-BD2C-11D5E124FDE2}"/>
              </a:ext>
            </a:extLst>
          </p:cNvPr>
          <p:cNvSpPr/>
          <p:nvPr/>
        </p:nvSpPr>
        <p:spPr>
          <a:xfrm>
            <a:off x="8973917" y="2221685"/>
            <a:ext cx="5496878" cy="542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7000" dirty="0">
                <a:solidFill>
                  <a:schemeClr val="accent1"/>
                </a:solidFill>
                <a:latin typeface="Chelsea Market" panose="020B0604020202020204" charset="0"/>
                <a:ea typeface="Unbounded" pitchFamily="34" charset="-122"/>
                <a:cs typeface="Unbounded" pitchFamily="34" charset="-120"/>
              </a:rPr>
              <a:t>Core Concept</a:t>
            </a:r>
            <a:endParaRPr lang="en-US" sz="7000" dirty="0">
              <a:solidFill>
                <a:schemeClr val="accent1"/>
              </a:solidFill>
              <a:latin typeface="Chelsea Market" panose="020B060402020202020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0E3EF3-D6A9-078E-4D10-E13E6FAC36C9}"/>
              </a:ext>
            </a:extLst>
          </p:cNvPr>
          <p:cNvSpPr/>
          <p:nvPr/>
        </p:nvSpPr>
        <p:spPr>
          <a:xfrm>
            <a:off x="1818322" y="3280431"/>
            <a:ext cx="5496878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5000" dirty="0">
                <a:solidFill>
                  <a:schemeClr val="tx1"/>
                </a:solidFill>
                <a:latin typeface="Chelsea Market" panose="020B0604020202020204" charset="0"/>
                <a:ea typeface="Unbounded" pitchFamily="34" charset="-122"/>
                <a:cs typeface="Unbounded" pitchFamily="34" charset="-120"/>
              </a:rPr>
              <a:t>System Objectives</a:t>
            </a:r>
            <a:endParaRPr lang="en-US" sz="5000" dirty="0">
              <a:solidFill>
                <a:schemeClr val="tx1"/>
              </a:solidFill>
              <a:latin typeface="Chelsea Market" panose="020B060402020202020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1374013-5E67-3E3D-A06E-732A74DA5A0B}"/>
              </a:ext>
            </a:extLst>
          </p:cNvPr>
          <p:cNvSpPr/>
          <p:nvPr/>
        </p:nvSpPr>
        <p:spPr>
          <a:xfrm>
            <a:off x="1816327" y="4589979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Chelsea Market" panose="020B0604020202020204" charset="0"/>
                <a:ea typeface="Cabin" pitchFamily="34" charset="-122"/>
                <a:cs typeface="Cabin" pitchFamily="34" charset="-120"/>
              </a:rPr>
              <a:t>The primary goals of this project are to:</a:t>
            </a:r>
            <a:endParaRPr lang="en-US" sz="4000" dirty="0">
              <a:solidFill>
                <a:schemeClr val="tx1"/>
              </a:solidFill>
              <a:latin typeface="Chelsea Market" panose="020B060402020202020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003B24D-6E1D-9898-2A94-057363BA4FD7}"/>
              </a:ext>
            </a:extLst>
          </p:cNvPr>
          <p:cNvSpPr/>
          <p:nvPr/>
        </p:nvSpPr>
        <p:spPr>
          <a:xfrm>
            <a:off x="7527499" y="4839912"/>
            <a:ext cx="14367615" cy="4659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>
              <a:lnSpc>
                <a:spcPct val="20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Develop an IoT-based system for automated attendance. </a:t>
            </a:r>
          </a:p>
          <a:p>
            <a:pPr marL="571500" indent="-571500">
              <a:lnSpc>
                <a:spcPct val="15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Capture and identify individuals using facial recognition.</a:t>
            </a:r>
            <a:endParaRPr lang="en-US" sz="4000" dirty="0">
              <a:solidFill>
                <a:schemeClr val="tx1"/>
              </a:solidFill>
              <a:latin typeface="DM Sans" pitchFamily="2" charset="0"/>
            </a:endParaRPr>
          </a:p>
          <a:p>
            <a:pPr marL="571500" indent="-571500">
              <a:lnSpc>
                <a:spcPct val="15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Operate entirely contactless.</a:t>
            </a:r>
            <a:endParaRPr lang="en-US" sz="4000" dirty="0">
              <a:solidFill>
                <a:schemeClr val="tx1"/>
              </a:solidFill>
              <a:latin typeface="DM Sans" pitchFamily="2" charset="0"/>
              <a:ea typeface="Cabin" pitchFamily="34" charset="-122"/>
            </a:endParaRPr>
          </a:p>
          <a:p>
            <a:pPr marL="571500" indent="-571500">
              <a:lnSpc>
                <a:spcPct val="15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Log attendance data to a remote google sheet/excel platform.</a:t>
            </a:r>
            <a:endParaRPr lang="en-US" sz="40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4DF78A0-E58D-8E94-65C0-5F06229C1E88}"/>
              </a:ext>
            </a:extLst>
          </p:cNvPr>
          <p:cNvSpPr/>
          <p:nvPr/>
        </p:nvSpPr>
        <p:spPr>
          <a:xfrm>
            <a:off x="2196794" y="4323636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endParaRPr lang="en-US" sz="30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E3E69FB-0D5D-0E3E-A2DE-9A96FDD1109F}"/>
              </a:ext>
            </a:extLst>
          </p:cNvPr>
          <p:cNvSpPr/>
          <p:nvPr/>
        </p:nvSpPr>
        <p:spPr>
          <a:xfrm>
            <a:off x="5993924" y="3286860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endParaRPr lang="en-US" sz="30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2509312-B457-EB7F-210A-BF7E2017687E}"/>
              </a:ext>
            </a:extLst>
          </p:cNvPr>
          <p:cNvSpPr/>
          <p:nvPr/>
        </p:nvSpPr>
        <p:spPr>
          <a:xfrm>
            <a:off x="837724" y="5686544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3000" dirty="0">
              <a:solidFill>
                <a:schemeClr val="tx1"/>
              </a:solidFill>
              <a:latin typeface="DM Sans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735BA7-B486-13BE-EE7B-17EB3BD0080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4801" y="5333161"/>
            <a:ext cx="6107235" cy="37582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9821D6-8A49-DC54-2498-406F685D2832}"/>
              </a:ext>
            </a:extLst>
          </p:cNvPr>
          <p:cNvSpPr txBox="1"/>
          <p:nvPr/>
        </p:nvSpPr>
        <p:spPr>
          <a:xfrm>
            <a:off x="837724" y="9450043"/>
            <a:ext cx="205009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100000"/>
            </a:pPr>
            <a:r>
              <a:rPr lang="en-US" sz="40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</a:rPr>
              <a:t> </a:t>
            </a:r>
            <a:r>
              <a:rPr lang="en-US" sz="40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The system aims for real-time face detection and recognition, automatic attendance    </a:t>
            </a:r>
          </a:p>
          <a:p>
            <a:pPr>
              <a:buSzPct val="100000"/>
            </a:pPr>
            <a:r>
              <a:rPr lang="en-US" sz="40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 logging, and centralized data storage accessible via a dashboard.</a:t>
            </a:r>
            <a:endParaRPr lang="en-IN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DF1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g35e0a9deb46_0_172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55708" y="6562804"/>
            <a:ext cx="15775372" cy="876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5e0a9deb46_0_172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78597" y="-1943100"/>
            <a:ext cx="17947343" cy="895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5e0a9deb46_0_172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191" y="-1854200"/>
            <a:ext cx="4229629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5e0a9deb46_0_172"/>
          <p:cNvSpPr/>
          <p:nvPr/>
        </p:nvSpPr>
        <p:spPr>
          <a:xfrm>
            <a:off x="23370921" y="10515600"/>
            <a:ext cx="1016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35e0a9deb46_0_172"/>
          <p:cNvSpPr/>
          <p:nvPr/>
        </p:nvSpPr>
        <p:spPr>
          <a:xfrm>
            <a:off x="1778222" y="2489200"/>
            <a:ext cx="20843400" cy="9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F02B7161-4A0C-4428-1534-85CDC1769292}"/>
              </a:ext>
            </a:extLst>
          </p:cNvPr>
          <p:cNvSpPr/>
          <p:nvPr/>
        </p:nvSpPr>
        <p:spPr>
          <a:xfrm>
            <a:off x="1397795" y="2635052"/>
            <a:ext cx="17093605" cy="1026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8083"/>
              </a:lnSpc>
            </a:pPr>
            <a:r>
              <a:rPr lang="en-US" sz="5000" dirty="0">
                <a:solidFill>
                  <a:schemeClr val="tx1"/>
                </a:solidFill>
                <a:latin typeface="Chelsea Market" panose="020B0604020202020204" charset="0"/>
                <a:ea typeface="Unbounded" pitchFamily="34" charset="-122"/>
                <a:cs typeface="Unbounded" pitchFamily="34" charset="-120"/>
              </a:rPr>
              <a:t>Core Functionality : How it Works</a:t>
            </a:r>
            <a:endParaRPr lang="en-US" sz="5000" dirty="0">
              <a:solidFill>
                <a:schemeClr val="tx1"/>
              </a:solidFill>
              <a:latin typeface="Chelsea Market" panose="020B0604020202020204" charset="0"/>
            </a:endParaRPr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2F7780A4-E06E-0F6D-EF1F-637BBC0D5B8D}"/>
              </a:ext>
            </a:extLst>
          </p:cNvPr>
          <p:cNvSpPr/>
          <p:nvPr/>
        </p:nvSpPr>
        <p:spPr>
          <a:xfrm>
            <a:off x="1397794" y="4359672"/>
            <a:ext cx="349052" cy="436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33"/>
              </a:lnSpc>
            </a:pPr>
            <a:r>
              <a:rPr lang="en-US" sz="2667" dirty="0">
                <a:solidFill>
                  <a:schemeClr val="tx1"/>
                </a:solidFill>
                <a:latin typeface="DM Sans" pitchFamily="2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2667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AEA9D599-534A-FAD2-3224-7A1698E976C2}"/>
              </a:ext>
            </a:extLst>
          </p:cNvPr>
          <p:cNvSpPr/>
          <p:nvPr/>
        </p:nvSpPr>
        <p:spPr>
          <a:xfrm>
            <a:off x="1397794" y="4914702"/>
            <a:ext cx="6964363" cy="381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B79796DC-574D-1483-AD31-9BDE8AF0C445}"/>
              </a:ext>
            </a:extLst>
          </p:cNvPr>
          <p:cNvSpPr/>
          <p:nvPr/>
        </p:nvSpPr>
        <p:spPr>
          <a:xfrm>
            <a:off x="1397794" y="5165329"/>
            <a:ext cx="4106863" cy="51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00"/>
              </a:lnSpc>
            </a:pPr>
            <a:r>
              <a:rPr lang="en-IN" sz="3200" dirty="0"/>
              <a:t>Face Enrolment</a:t>
            </a:r>
            <a:endParaRPr lang="en-US" sz="3167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7DC6BC12-B28F-BE38-A65B-F49E4768C0E5}"/>
              </a:ext>
            </a:extLst>
          </p:cNvPr>
          <p:cNvSpPr/>
          <p:nvPr/>
        </p:nvSpPr>
        <p:spPr>
          <a:xfrm>
            <a:off x="1397794" y="5888038"/>
            <a:ext cx="6964363" cy="1675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DM Sans" pitchFamily="2" charset="0"/>
              </a:rPr>
              <a:t>“Student face data is captured for the first time to create a unique profile in the system. This step ensures accurate identification during future attendance marking.”</a:t>
            </a:r>
            <a:endParaRPr lang="en-US" sz="22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B5F83280-D7BF-4C62-00E5-E2852D0101C3}"/>
              </a:ext>
            </a:extLst>
          </p:cNvPr>
          <p:cNvSpPr/>
          <p:nvPr/>
        </p:nvSpPr>
        <p:spPr>
          <a:xfrm>
            <a:off x="8711208" y="4359672"/>
            <a:ext cx="349052" cy="436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33"/>
              </a:lnSpc>
            </a:pPr>
            <a:r>
              <a:rPr lang="en-US" sz="2667" dirty="0">
                <a:solidFill>
                  <a:schemeClr val="tx1"/>
                </a:solidFill>
                <a:latin typeface="DM Sans" pitchFamily="2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2667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DE20C70C-CA98-4B1E-FEEC-0157885CA33A}"/>
              </a:ext>
            </a:extLst>
          </p:cNvPr>
          <p:cNvSpPr/>
          <p:nvPr/>
        </p:nvSpPr>
        <p:spPr>
          <a:xfrm>
            <a:off x="8711208" y="4914702"/>
            <a:ext cx="6964562" cy="381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D669820C-0E7B-C9D9-78F9-EC09B3935945}"/>
              </a:ext>
            </a:extLst>
          </p:cNvPr>
          <p:cNvSpPr/>
          <p:nvPr/>
        </p:nvSpPr>
        <p:spPr>
          <a:xfrm>
            <a:off x="8711207" y="5165329"/>
            <a:ext cx="4591843" cy="51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00"/>
              </a:lnSpc>
            </a:pPr>
            <a:r>
              <a:rPr lang="en-IN" sz="3200" dirty="0"/>
              <a:t>Face Capture</a:t>
            </a:r>
            <a:endParaRPr lang="en-US" sz="3167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9D01BD1B-11F5-7A1E-3043-CB0840269202}"/>
              </a:ext>
            </a:extLst>
          </p:cNvPr>
          <p:cNvSpPr/>
          <p:nvPr/>
        </p:nvSpPr>
        <p:spPr>
          <a:xfrm>
            <a:off x="8798472" y="5851881"/>
            <a:ext cx="6964562" cy="1675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DM Sans" pitchFamily="2" charset="0"/>
              </a:rPr>
              <a:t>“The HUSKY LENS captures a live image of the student when they approach the attendance area. This real-time image is sent for processing without any manual intervention.”</a:t>
            </a:r>
            <a:endParaRPr lang="en-US" sz="22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6544F887-33F8-CFDE-2563-66FBA595C736}"/>
              </a:ext>
            </a:extLst>
          </p:cNvPr>
          <p:cNvSpPr/>
          <p:nvPr/>
        </p:nvSpPr>
        <p:spPr>
          <a:xfrm>
            <a:off x="16024821" y="4359672"/>
            <a:ext cx="349052" cy="436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33"/>
              </a:lnSpc>
            </a:pPr>
            <a:r>
              <a:rPr lang="en-US" sz="2667" dirty="0">
                <a:solidFill>
                  <a:schemeClr val="tx1"/>
                </a:solidFill>
                <a:latin typeface="DM Sans" pitchFamily="2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2667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19649E03-C6D1-C49B-05C9-346E3DB65D0E}"/>
              </a:ext>
            </a:extLst>
          </p:cNvPr>
          <p:cNvSpPr/>
          <p:nvPr/>
        </p:nvSpPr>
        <p:spPr>
          <a:xfrm>
            <a:off x="16024821" y="4914702"/>
            <a:ext cx="6964562" cy="381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A79C9650-A37D-A098-A824-7C39307E8E86}"/>
              </a:ext>
            </a:extLst>
          </p:cNvPr>
          <p:cNvSpPr/>
          <p:nvPr/>
        </p:nvSpPr>
        <p:spPr>
          <a:xfrm>
            <a:off x="16024821" y="5165329"/>
            <a:ext cx="4236243" cy="51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00"/>
              </a:lnSpc>
            </a:pPr>
            <a:r>
              <a:rPr lang="en-IN" sz="3200" dirty="0"/>
              <a:t>Face Recognition</a:t>
            </a:r>
            <a:endParaRPr lang="en-US" sz="3167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42C4E48B-F504-F647-C68C-8449A3450412}"/>
              </a:ext>
            </a:extLst>
          </p:cNvPr>
          <p:cNvSpPr/>
          <p:nvPr/>
        </p:nvSpPr>
        <p:spPr>
          <a:xfrm>
            <a:off x="16199347" y="5888038"/>
            <a:ext cx="6964562" cy="1675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33"/>
              </a:lnSpc>
            </a:pPr>
            <a:r>
              <a:rPr lang="en-US" sz="2200" dirty="0">
                <a:latin typeface="DM Sans" pitchFamily="2" charset="0"/>
              </a:rPr>
              <a:t>“The captured image is compared against stored profiles using embedded facial recognition algorithms. Successful recognition confirms the student’s identity instantly.”</a:t>
            </a:r>
            <a:endParaRPr lang="en-US" sz="22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CE19862B-754C-90C3-4BE0-E2BEC8CF8C3B}"/>
              </a:ext>
            </a:extLst>
          </p:cNvPr>
          <p:cNvSpPr/>
          <p:nvPr/>
        </p:nvSpPr>
        <p:spPr>
          <a:xfrm>
            <a:off x="1397794" y="8174039"/>
            <a:ext cx="349052" cy="436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33"/>
              </a:lnSpc>
            </a:pPr>
            <a:r>
              <a:rPr lang="en-US" sz="2667" dirty="0">
                <a:solidFill>
                  <a:schemeClr val="tx1"/>
                </a:solidFill>
                <a:latin typeface="DM Sans" pitchFamily="2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2667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F265065E-1BF5-35C1-CD89-B4A6DB66CA5A}"/>
              </a:ext>
            </a:extLst>
          </p:cNvPr>
          <p:cNvSpPr/>
          <p:nvPr/>
        </p:nvSpPr>
        <p:spPr>
          <a:xfrm>
            <a:off x="1397795" y="8729066"/>
            <a:ext cx="6964362" cy="45719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309992F6-E91A-D6BD-226E-4947D634D370}"/>
              </a:ext>
            </a:extLst>
          </p:cNvPr>
          <p:cNvSpPr/>
          <p:nvPr/>
        </p:nvSpPr>
        <p:spPr>
          <a:xfrm>
            <a:off x="1397794" y="8979694"/>
            <a:ext cx="5018882" cy="51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00"/>
              </a:lnSpc>
            </a:pPr>
            <a:r>
              <a:rPr lang="en-IN" sz="3200" dirty="0"/>
              <a:t>Servo Sweeping</a:t>
            </a:r>
            <a:endParaRPr lang="en-US" sz="3167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847A1DD8-7E9A-3EE6-74E7-8A874183DC41}"/>
              </a:ext>
            </a:extLst>
          </p:cNvPr>
          <p:cNvSpPr/>
          <p:nvPr/>
        </p:nvSpPr>
        <p:spPr>
          <a:xfrm>
            <a:off x="1397795" y="9702403"/>
            <a:ext cx="6964362" cy="1116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33"/>
              </a:lnSpc>
            </a:pPr>
            <a:r>
              <a:rPr lang="en-US" sz="2200" dirty="0">
                <a:latin typeface="DM Sans" pitchFamily="2" charset="0"/>
              </a:rPr>
              <a:t>“The servo sweeps from 0° to 180°, scanning the entire classroom to capture all students for complete attendance detection in a single pass.”</a:t>
            </a:r>
            <a:endParaRPr lang="en-US" sz="22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0BBD1E09-EC8B-2267-8D68-5A4EA941B83B}"/>
              </a:ext>
            </a:extLst>
          </p:cNvPr>
          <p:cNvSpPr/>
          <p:nvPr/>
        </p:nvSpPr>
        <p:spPr>
          <a:xfrm>
            <a:off x="8885734" y="8159185"/>
            <a:ext cx="3831332" cy="516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33"/>
              </a:lnSpc>
            </a:pPr>
            <a:r>
              <a:rPr lang="en-US" sz="2667" dirty="0">
                <a:solidFill>
                  <a:schemeClr val="tx1"/>
                </a:solidFill>
                <a:latin typeface="DM Sans" pitchFamily="2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2667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FE581E19-6242-0D41-0781-0C2AFC7C0F5A}"/>
              </a:ext>
            </a:extLst>
          </p:cNvPr>
          <p:cNvSpPr/>
          <p:nvPr/>
        </p:nvSpPr>
        <p:spPr>
          <a:xfrm>
            <a:off x="8885734" y="9046964"/>
            <a:ext cx="5078413" cy="51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00"/>
              </a:lnSpc>
            </a:pPr>
            <a:r>
              <a:rPr lang="en-IN" sz="3200" dirty="0"/>
              <a:t>LCD Feedback Display</a:t>
            </a:r>
            <a:endParaRPr lang="en-US" sz="3167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9216A7CF-77AA-A8EF-71AA-966D59A27BA1}"/>
              </a:ext>
            </a:extLst>
          </p:cNvPr>
          <p:cNvSpPr/>
          <p:nvPr/>
        </p:nvSpPr>
        <p:spPr>
          <a:xfrm>
            <a:off x="8885735" y="9827497"/>
            <a:ext cx="6790036" cy="1116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33"/>
              </a:lnSpc>
            </a:pPr>
            <a:r>
              <a:rPr lang="en-US" sz="2200" dirty="0">
                <a:latin typeface="DM Sans" pitchFamily="2" charset="0"/>
              </a:rPr>
              <a:t>“The system displays the recognized student’s name, ID, and attendance status on the LCD in real time, enhancing transparency and user interaction.”</a:t>
            </a:r>
            <a:endParaRPr lang="en-US" sz="22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2" name="Shape 18">
            <a:extLst>
              <a:ext uri="{FF2B5EF4-FFF2-40B4-BE49-F238E27FC236}">
                <a16:creationId xmlns:a16="http://schemas.microsoft.com/office/drawing/2014/main" id="{0A22C574-AEA3-2C86-95A5-8E5453CE3BE5}"/>
              </a:ext>
            </a:extLst>
          </p:cNvPr>
          <p:cNvSpPr/>
          <p:nvPr/>
        </p:nvSpPr>
        <p:spPr>
          <a:xfrm flipV="1">
            <a:off x="16199347" y="8727964"/>
            <a:ext cx="6914515" cy="45719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6220E-BF4C-2233-D03F-8D717E269725}"/>
              </a:ext>
            </a:extLst>
          </p:cNvPr>
          <p:cNvSpPr txBox="1"/>
          <p:nvPr/>
        </p:nvSpPr>
        <p:spPr>
          <a:xfrm>
            <a:off x="16199347" y="8237832"/>
            <a:ext cx="62549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chemeClr val="tx1"/>
                </a:solidFill>
                <a:latin typeface="DM Sans" pitchFamily="2" charset="0"/>
                <a:ea typeface="Unbounded Light" pitchFamily="34" charset="-122"/>
                <a:cs typeface="Unbounded Light" pitchFamily="34" charset="-120"/>
              </a:rPr>
              <a:t>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5B8DCF-A0EA-66D5-EC30-ABE819B5A673}"/>
              </a:ext>
            </a:extLst>
          </p:cNvPr>
          <p:cNvSpPr txBox="1"/>
          <p:nvPr/>
        </p:nvSpPr>
        <p:spPr>
          <a:xfrm>
            <a:off x="16199347" y="9019688"/>
            <a:ext cx="56428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DM Sans" pitchFamily="2" charset="0"/>
              </a:rPr>
              <a:t>Data Transmission &amp; Storing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2BB2BB-F014-2180-D2D2-559E52542997}"/>
              </a:ext>
            </a:extLst>
          </p:cNvPr>
          <p:cNvSpPr txBox="1"/>
          <p:nvPr/>
        </p:nvSpPr>
        <p:spPr>
          <a:xfrm flipH="1">
            <a:off x="16187531" y="9718763"/>
            <a:ext cx="6617971" cy="206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DM Sans" pitchFamily="2" charset="0"/>
              </a:rPr>
              <a:t>“Attendance data is transmitted to Google Sheets and stored locally on ESP32/SD card, ensuring real-time tracking and secure backup against network failures.”</a:t>
            </a:r>
            <a:endParaRPr lang="en-IN" sz="2200" dirty="0">
              <a:latin typeface="DM Sans" pitchFamily="2" charset="0"/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44E22D36-F299-473F-2E5A-C683D6B75EC1}"/>
              </a:ext>
            </a:extLst>
          </p:cNvPr>
          <p:cNvSpPr/>
          <p:nvPr/>
        </p:nvSpPr>
        <p:spPr>
          <a:xfrm>
            <a:off x="8711207" y="8724702"/>
            <a:ext cx="6964562" cy="38100"/>
          </a:xfrm>
          <a:prstGeom prst="rect">
            <a:avLst/>
          </a:prstGeom>
          <a:solidFill>
            <a:srgbClr val="0A988B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DF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5e0a9deb46_0_118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72280" y="-3784600"/>
            <a:ext cx="17947343" cy="895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5e0a9deb46_0_118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13995" y="-1422400"/>
            <a:ext cx="4229629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5e0a9deb46_0_118"/>
          <p:cNvSpPr/>
          <p:nvPr/>
        </p:nvSpPr>
        <p:spPr>
          <a:xfrm>
            <a:off x="23370921" y="10515600"/>
            <a:ext cx="1016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5e0a9deb46_0_118"/>
          <p:cNvSpPr/>
          <p:nvPr/>
        </p:nvSpPr>
        <p:spPr>
          <a:xfrm>
            <a:off x="13882835" y="4318000"/>
            <a:ext cx="7163700" cy="29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35e0a9deb46_0_118"/>
          <p:cNvSpPr/>
          <p:nvPr/>
        </p:nvSpPr>
        <p:spPr>
          <a:xfrm>
            <a:off x="13882835" y="8420100"/>
            <a:ext cx="7163700" cy="29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C220F840-D391-2283-39A4-A29322ADCF14}"/>
              </a:ext>
            </a:extLst>
          </p:cNvPr>
          <p:cNvSpPr/>
          <p:nvPr/>
        </p:nvSpPr>
        <p:spPr>
          <a:xfrm>
            <a:off x="-58464" y="4490789"/>
            <a:ext cx="22813843" cy="53415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D8308991-397E-19D1-937E-0B1A81494051}"/>
              </a:ext>
            </a:extLst>
          </p:cNvPr>
          <p:cNvSpPr/>
          <p:nvPr/>
        </p:nvSpPr>
        <p:spPr>
          <a:xfrm>
            <a:off x="757357" y="4595574"/>
            <a:ext cx="22813843" cy="53415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Shape 21">
            <a:extLst>
              <a:ext uri="{FF2B5EF4-FFF2-40B4-BE49-F238E27FC236}">
                <a16:creationId xmlns:a16="http://schemas.microsoft.com/office/drawing/2014/main" id="{2307AD7B-E8D1-119F-53F5-A3F1593717F9}"/>
              </a:ext>
            </a:extLst>
          </p:cNvPr>
          <p:cNvSpPr/>
          <p:nvPr/>
        </p:nvSpPr>
        <p:spPr>
          <a:xfrm>
            <a:off x="757357" y="5825252"/>
            <a:ext cx="22813843" cy="53415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1D1AF54-5795-8D16-61FB-2D07B4D30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645634"/>
              </p:ext>
            </p:extLst>
          </p:nvPr>
        </p:nvGraphicFramePr>
        <p:xfrm>
          <a:off x="3963986" y="3466911"/>
          <a:ext cx="16459200" cy="8648889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922544305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51730082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671561125"/>
                    </a:ext>
                  </a:extLst>
                </a:gridCol>
              </a:tblGrid>
              <a:tr h="8823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>
                          <a:latin typeface="Chelsea Market" panose="020B0604020202020204" charset="0"/>
                        </a:rPr>
                        <a:t>COMPONENTS</a:t>
                      </a:r>
                      <a:endParaRPr lang="en-IN" sz="4000" dirty="0">
                        <a:latin typeface="Chelsea Marke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>
                          <a:latin typeface="Chelsea Market" panose="020B0604020202020204" charset="0"/>
                        </a:rPr>
                        <a:t>PART NO</a:t>
                      </a:r>
                      <a:endParaRPr lang="en-IN" sz="4000" dirty="0">
                        <a:latin typeface="Chelsea Marke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>
                          <a:latin typeface="Chelsea Market" panose="020B0604020202020204" charset="0"/>
                        </a:rPr>
                        <a:t>QUANTITY</a:t>
                      </a:r>
                      <a:endParaRPr lang="en-IN" sz="4000" dirty="0">
                        <a:latin typeface="Chelsea Market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12083"/>
                  </a:ext>
                </a:extLst>
              </a:tr>
              <a:tr h="102672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>
                          <a:latin typeface="DM Sans" pitchFamily="2" charset="0"/>
                        </a:rPr>
                        <a:t>HUSKY LENS</a:t>
                      </a:r>
                      <a:endParaRPr lang="en-IN" sz="4000" dirty="0">
                        <a:latin typeface="DM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800" dirty="0">
                          <a:latin typeface="DM Sans" pitchFamily="2" charset="0"/>
                        </a:rPr>
                        <a:t>SKU: SEN0305</a:t>
                      </a:r>
                      <a:endParaRPr lang="en-IN" sz="2500" dirty="0">
                        <a:latin typeface="DM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>
                          <a:latin typeface="DM Sans" pitchFamily="2" charset="0"/>
                        </a:rPr>
                        <a:t>1</a:t>
                      </a:r>
                      <a:endParaRPr lang="en-IN" sz="4000" dirty="0">
                        <a:latin typeface="DM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313201"/>
                  </a:ext>
                </a:extLst>
              </a:tr>
              <a:tr h="8823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>
                          <a:latin typeface="DM Sans" pitchFamily="2" charset="0"/>
                        </a:rPr>
                        <a:t>ESP 32</a:t>
                      </a:r>
                      <a:endParaRPr lang="en-IN" sz="4000" dirty="0">
                        <a:latin typeface="DM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3200" dirty="0">
                          <a:latin typeface="DM Sans" pitchFamily="2" charset="0"/>
                        </a:rPr>
                        <a:t>ESP32-WROOM</a:t>
                      </a:r>
                      <a:endParaRPr lang="en-IN" sz="3000" dirty="0">
                        <a:latin typeface="DM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>
                          <a:latin typeface="DM Sans" pitchFamily="2" charset="0"/>
                        </a:rPr>
                        <a:t>1</a:t>
                      </a:r>
                      <a:endParaRPr lang="en-IN" sz="4000" dirty="0">
                        <a:latin typeface="DM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84409"/>
                  </a:ext>
                </a:extLst>
              </a:tr>
              <a:tr h="8823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4000" dirty="0">
                          <a:latin typeface="DM Sans" pitchFamily="2" charset="0"/>
                        </a:rPr>
                        <a:t>Servo 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4000" dirty="0">
                          <a:latin typeface="DM Sans" pitchFamily="2" charset="0"/>
                        </a:rPr>
                        <a:t> MG995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>
                          <a:latin typeface="DM Sans" pitchFamily="2" charset="0"/>
                        </a:rPr>
                        <a:t>1</a:t>
                      </a:r>
                      <a:endParaRPr lang="en-IN" sz="4000" dirty="0">
                        <a:latin typeface="DM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230703"/>
                  </a:ext>
                </a:extLst>
              </a:tr>
              <a:tr h="8823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4000" dirty="0">
                          <a:solidFill>
                            <a:schemeClr val="tx1"/>
                          </a:solidFill>
                          <a:latin typeface="DM Sans" pitchFamily="2" charset="0"/>
                        </a:rPr>
                        <a:t>LCD 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2500" dirty="0">
                          <a:latin typeface="DM Sans" pitchFamily="2" charset="0"/>
                        </a:rPr>
                        <a:t>LCD1602 + PCF8574 I²C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>
                          <a:latin typeface="DM Sans" pitchFamily="2" charset="0"/>
                        </a:rPr>
                        <a:t>1</a:t>
                      </a:r>
                      <a:endParaRPr lang="en-IN" sz="4000" dirty="0">
                        <a:latin typeface="DM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791774"/>
                  </a:ext>
                </a:extLst>
              </a:tr>
              <a:tr h="8823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4000" dirty="0">
                          <a:latin typeface="DM Sans" pitchFamily="2" charset="0"/>
                        </a:rPr>
                        <a:t>Breadboard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>
                          <a:latin typeface="DM Sans" pitchFamily="2" charset="0"/>
                        </a:rPr>
                        <a:t>-</a:t>
                      </a:r>
                      <a:endParaRPr lang="en-IN" sz="4000" dirty="0">
                        <a:latin typeface="DM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>
                          <a:latin typeface="DM Sans" pitchFamily="2" charset="0"/>
                        </a:rPr>
                        <a:t>1</a:t>
                      </a:r>
                      <a:endParaRPr lang="en-IN" sz="4000" dirty="0">
                        <a:latin typeface="DM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357098"/>
                  </a:ext>
                </a:extLst>
              </a:tr>
              <a:tr h="8823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4000" b="0" dirty="0">
                          <a:latin typeface="DM Sans" pitchFamily="2" charset="0"/>
                        </a:rPr>
                        <a:t>Jumper Wires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>
                          <a:latin typeface="DM Sans" pitchFamily="2" charset="0"/>
                        </a:rPr>
                        <a:t>-</a:t>
                      </a:r>
                      <a:endParaRPr lang="en-IN" sz="4000" dirty="0">
                        <a:latin typeface="DM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3000" dirty="0">
                          <a:latin typeface="DM Sans" pitchFamily="2" charset="0"/>
                        </a:rPr>
                        <a:t>AS REQUIRES</a:t>
                      </a:r>
                      <a:endParaRPr lang="en-IN" sz="3000" dirty="0">
                        <a:latin typeface="DM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841499"/>
                  </a:ext>
                </a:extLst>
              </a:tr>
              <a:tr h="102672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4000" dirty="0">
                          <a:latin typeface="DM Sans" pitchFamily="2" charset="0"/>
                        </a:rPr>
                        <a:t>Battery /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500" b="0" dirty="0">
                          <a:latin typeface="DM Sans" pitchFamily="2" charset="0"/>
                        </a:rPr>
                        <a:t>18650 Li-Ion + Boost Converter / 5V Power Bank</a:t>
                      </a:r>
                      <a:endParaRPr lang="en-IN" sz="2500" b="0" dirty="0">
                        <a:latin typeface="DM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>
                          <a:latin typeface="DM Sans" pitchFamily="2" charset="0"/>
                        </a:rPr>
                        <a:t>1</a:t>
                      </a:r>
                      <a:endParaRPr lang="en-IN" sz="4000" dirty="0">
                        <a:latin typeface="DM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970895"/>
                  </a:ext>
                </a:extLst>
              </a:tr>
              <a:tr h="8823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>
                          <a:latin typeface="DM Sans" pitchFamily="2" charset="0"/>
                        </a:rPr>
                        <a:t>USB CABLE</a:t>
                      </a:r>
                      <a:endParaRPr lang="en-IN" sz="4000" dirty="0">
                        <a:latin typeface="DM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>
                          <a:latin typeface="DM Sans" pitchFamily="2" charset="0"/>
                        </a:rPr>
                        <a:t>TYPE-C</a:t>
                      </a:r>
                      <a:endParaRPr lang="en-IN" sz="4000" dirty="0">
                        <a:latin typeface="DM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000" dirty="0">
                          <a:latin typeface="DM Sans" pitchFamily="2" charset="0"/>
                        </a:rPr>
                        <a:t>1</a:t>
                      </a:r>
                      <a:endParaRPr lang="en-IN" sz="4000" dirty="0">
                        <a:latin typeface="DM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80200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53F2C83-95CA-829E-EC1D-B10685B23D39}"/>
              </a:ext>
            </a:extLst>
          </p:cNvPr>
          <p:cNvSpPr txBox="1"/>
          <p:nvPr/>
        </p:nvSpPr>
        <p:spPr>
          <a:xfrm>
            <a:off x="6443624" y="409872"/>
            <a:ext cx="94532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1"/>
                </a:solidFill>
                <a:latin typeface="Chelsea Market" panose="020B0604020202020204" charset="0"/>
              </a:rPr>
              <a:t>COMPONENT CHECKLIST</a:t>
            </a:r>
            <a:endParaRPr lang="en-IN" sz="6000" dirty="0">
              <a:solidFill>
                <a:schemeClr val="accent1"/>
              </a:solidFill>
              <a:latin typeface="Chelsea Market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DF1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g35e0a9deb46_0_265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81048" y="6324600"/>
            <a:ext cx="15775372" cy="876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35e0a9deb46_0_265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78597" y="-1943100"/>
            <a:ext cx="17947343" cy="895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35e0a9deb46_0_265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191" y="-2082800"/>
            <a:ext cx="4229629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5e0a9deb46_0_265"/>
          <p:cNvSpPr/>
          <p:nvPr/>
        </p:nvSpPr>
        <p:spPr>
          <a:xfrm>
            <a:off x="23370921" y="10515600"/>
            <a:ext cx="1016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35e0a9deb46_0_265"/>
          <p:cNvSpPr/>
          <p:nvPr/>
        </p:nvSpPr>
        <p:spPr>
          <a:xfrm>
            <a:off x="14543318" y="3543300"/>
            <a:ext cx="7875000" cy="77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35e0a9deb46_0_265"/>
          <p:cNvSpPr/>
          <p:nvPr/>
        </p:nvSpPr>
        <p:spPr>
          <a:xfrm>
            <a:off x="14543318" y="3543300"/>
            <a:ext cx="7875000" cy="3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g35e0a9deb46_0_265"/>
          <p:cNvSpPr/>
          <p:nvPr/>
        </p:nvSpPr>
        <p:spPr>
          <a:xfrm>
            <a:off x="14543318" y="3543300"/>
            <a:ext cx="2692800" cy="20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35e0a9deb46_0_265"/>
          <p:cNvSpPr/>
          <p:nvPr/>
        </p:nvSpPr>
        <p:spPr>
          <a:xfrm>
            <a:off x="14543318" y="5918200"/>
            <a:ext cx="7875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g35e0a9deb46_0_265"/>
          <p:cNvSpPr/>
          <p:nvPr/>
        </p:nvSpPr>
        <p:spPr>
          <a:xfrm>
            <a:off x="14543318" y="7747000"/>
            <a:ext cx="7875000" cy="3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35e0a9deb46_0_265"/>
          <p:cNvSpPr/>
          <p:nvPr/>
        </p:nvSpPr>
        <p:spPr>
          <a:xfrm>
            <a:off x="14543318" y="7747000"/>
            <a:ext cx="2781600" cy="20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35e0a9deb46_0_265"/>
          <p:cNvSpPr/>
          <p:nvPr/>
        </p:nvSpPr>
        <p:spPr>
          <a:xfrm>
            <a:off x="14543318" y="11442600"/>
            <a:ext cx="7875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C951AF-90E9-D854-4EDD-94C2C40CDE21}"/>
              </a:ext>
            </a:extLst>
          </p:cNvPr>
          <p:cNvSpPr txBox="1"/>
          <p:nvPr/>
        </p:nvSpPr>
        <p:spPr>
          <a:xfrm>
            <a:off x="1112027" y="1604873"/>
            <a:ext cx="1486657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 dirty="0">
                <a:solidFill>
                  <a:schemeClr val="tx1"/>
                </a:solidFill>
                <a:latin typeface="Chelsea Market" panose="020B0604020202020204" charset="0"/>
                <a:ea typeface="Merriweather" pitchFamily="34" charset="-122"/>
                <a:cs typeface="Merriweather" pitchFamily="34" charset="-120"/>
              </a:rPr>
              <a:t>Essential Components Overview</a:t>
            </a:r>
            <a:endParaRPr lang="en-US" sz="7000" dirty="0">
              <a:solidFill>
                <a:schemeClr val="tx1"/>
              </a:solidFill>
              <a:latin typeface="Chelsea Market" panose="020B060402020202020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3B81829-490B-00D2-5B43-342838AB3785}"/>
              </a:ext>
            </a:extLst>
          </p:cNvPr>
          <p:cNvSpPr/>
          <p:nvPr/>
        </p:nvSpPr>
        <p:spPr>
          <a:xfrm>
            <a:off x="941095" y="3788227"/>
            <a:ext cx="7315200" cy="3349071"/>
          </a:xfrm>
          <a:prstGeom prst="roundRect">
            <a:avLst/>
          </a:prstGeom>
          <a:solidFill>
            <a:schemeClr val="accent5">
              <a:lumMod val="40000"/>
              <a:lumOff val="60000"/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dirty="0">
                <a:solidFill>
                  <a:schemeClr val="tx1"/>
                </a:solidFill>
                <a:latin typeface="Chelsea Market" panose="020B0604020202020204" charset="0"/>
              </a:rPr>
              <a:t>HUSKY LENS</a:t>
            </a:r>
          </a:p>
          <a:p>
            <a:r>
              <a:rPr lang="en-US" sz="2600" dirty="0">
                <a:solidFill>
                  <a:schemeClr val="tx1"/>
                </a:solidFill>
                <a:latin typeface="DM Sans" pitchFamily="2" charset="0"/>
              </a:rPr>
              <a:t>“The HUSKY LENS  acts as both the eyes and brain, capturing images, processing data, and enabling smart .”</a:t>
            </a:r>
            <a:endParaRPr lang="en-IN" sz="26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CEE64A-3C37-5C97-6BA4-D2D9564CB4E0}"/>
              </a:ext>
            </a:extLst>
          </p:cNvPr>
          <p:cNvSpPr/>
          <p:nvPr/>
        </p:nvSpPr>
        <p:spPr>
          <a:xfrm>
            <a:off x="813685" y="8654953"/>
            <a:ext cx="7315199" cy="3349071"/>
          </a:xfrm>
          <a:prstGeom prst="roundRect">
            <a:avLst/>
          </a:prstGeom>
          <a:solidFill>
            <a:schemeClr val="accent5">
              <a:lumMod val="40000"/>
              <a:lumOff val="60000"/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dirty="0">
                <a:solidFill>
                  <a:schemeClr val="tx1"/>
                </a:solidFill>
                <a:latin typeface="Chelsea Market" panose="020B0604020202020204" charset="0"/>
              </a:rPr>
              <a:t>Arduino IDE</a:t>
            </a:r>
          </a:p>
          <a:p>
            <a:r>
              <a:rPr lang="en-US" sz="2600" dirty="0">
                <a:solidFill>
                  <a:schemeClr val="tx1"/>
                </a:solidFill>
                <a:latin typeface="DM Sans" pitchFamily="2" charset="0"/>
              </a:rPr>
              <a:t>“A platform for programming the ESP32, managing Husky lens camera operations and enabling Wi-Fi-based functionalities.”</a:t>
            </a:r>
            <a:endParaRPr lang="en-IN" sz="26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B199B0-0EB2-AD75-C35A-21794FED4666}"/>
              </a:ext>
            </a:extLst>
          </p:cNvPr>
          <p:cNvSpPr/>
          <p:nvPr/>
        </p:nvSpPr>
        <p:spPr>
          <a:xfrm>
            <a:off x="8535988" y="8588353"/>
            <a:ext cx="7315198" cy="334907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dirty="0">
                <a:solidFill>
                  <a:schemeClr val="tx1"/>
                </a:solidFill>
                <a:latin typeface="Chelsea Market" panose="020B0604020202020204" charset="0"/>
              </a:rPr>
              <a:t>Google Sheets API </a:t>
            </a:r>
          </a:p>
          <a:p>
            <a:r>
              <a:rPr lang="en-US" sz="2600" dirty="0">
                <a:solidFill>
                  <a:schemeClr val="tx1"/>
                </a:solidFill>
                <a:latin typeface="DM Sans" pitchFamily="2" charset="0"/>
              </a:rPr>
              <a:t>“Enables cloud-based attendance storage with real-time logging, ensuring centralized access and secure record management.”</a:t>
            </a:r>
            <a:endParaRPr lang="en-IN" sz="26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0DCA4AF-AAF0-1177-5023-79A6D8B64AD4}"/>
              </a:ext>
            </a:extLst>
          </p:cNvPr>
          <p:cNvSpPr/>
          <p:nvPr/>
        </p:nvSpPr>
        <p:spPr>
          <a:xfrm>
            <a:off x="8618920" y="3706682"/>
            <a:ext cx="7315198" cy="334907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tx1"/>
                </a:solidFill>
                <a:latin typeface="Chelsea Market" panose="020B0604020202020204" charset="0"/>
              </a:rPr>
              <a:t>ESP32 — </a:t>
            </a:r>
            <a:r>
              <a:rPr lang="en-IN" sz="3600" dirty="0">
                <a:solidFill>
                  <a:schemeClr val="tx1"/>
                </a:solidFill>
                <a:latin typeface="Chelsea Market" panose="020B0604020202020204" charset="0"/>
              </a:rPr>
              <a:t>The Central Controller</a:t>
            </a:r>
            <a:br>
              <a:rPr lang="en-US" sz="3600" dirty="0">
                <a:solidFill>
                  <a:schemeClr val="tx1"/>
                </a:solidFill>
                <a:latin typeface="Chelsea Market" panose="020B0604020202020204" charset="0"/>
              </a:rPr>
            </a:br>
            <a:r>
              <a:rPr lang="en-US" sz="2600" dirty="0">
                <a:solidFill>
                  <a:schemeClr val="tx1"/>
                </a:solidFill>
                <a:latin typeface="DM Sans" pitchFamily="2" charset="0"/>
              </a:rPr>
              <a:t>“The ESP32 controls all components, connects to Wi-Fi, and processes data from the Husky Lens to ensure smooth system operation.”</a:t>
            </a:r>
            <a:endParaRPr lang="en-IN" sz="26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6D50585-2438-930F-31BB-036408322623}"/>
              </a:ext>
            </a:extLst>
          </p:cNvPr>
          <p:cNvSpPr/>
          <p:nvPr/>
        </p:nvSpPr>
        <p:spPr>
          <a:xfrm>
            <a:off x="16296743" y="3750557"/>
            <a:ext cx="7315197" cy="334907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dirty="0">
                <a:solidFill>
                  <a:schemeClr val="tx1"/>
                </a:solidFill>
                <a:latin typeface="Chelsea Market" panose="020B0604020202020204" charset="0"/>
              </a:rPr>
              <a:t>LCD, Servo Motor &amp; Power Supply (5V)</a:t>
            </a:r>
            <a:br>
              <a:rPr lang="en-US" sz="3600" dirty="0"/>
            </a:br>
            <a:r>
              <a:rPr lang="en-US" sz="2600" dirty="0">
                <a:solidFill>
                  <a:schemeClr val="tx1"/>
                </a:solidFill>
                <a:latin typeface="DM Sans" pitchFamily="2" charset="0"/>
              </a:rPr>
              <a:t>“The LCD shows real-time attendance, the servo scans the classroom, and a 5V power supply keeps the ESP32 and all components running reliably.”</a:t>
            </a:r>
            <a:endParaRPr lang="en-IN" sz="26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CEBEE9-0996-18A3-5026-EFB3848F1C8E}"/>
              </a:ext>
            </a:extLst>
          </p:cNvPr>
          <p:cNvSpPr/>
          <p:nvPr/>
        </p:nvSpPr>
        <p:spPr>
          <a:xfrm>
            <a:off x="16258293" y="8627366"/>
            <a:ext cx="7315197" cy="334907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dirty="0">
                <a:solidFill>
                  <a:schemeClr val="tx1"/>
                </a:solidFill>
                <a:latin typeface="Chelsea Market" panose="020B0604020202020204" charset="0"/>
              </a:rPr>
              <a:t>Husky Lens Face Recognition </a:t>
            </a:r>
            <a:br>
              <a:rPr lang="en-US" sz="3600" dirty="0"/>
            </a:br>
            <a:r>
              <a:rPr lang="en-US" sz="2600" dirty="0">
                <a:solidFill>
                  <a:schemeClr val="tx1"/>
                </a:solidFill>
                <a:latin typeface="DM Sans" pitchFamily="2" charset="0"/>
              </a:rPr>
              <a:t>“Husky Lens detects and recognizes faces instantly on-device, enabling quick and accurate attendance marking without external processing.”</a:t>
            </a:r>
            <a:endParaRPr lang="en-IN" sz="26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2188E2-3DC0-1CB4-EF38-6778DD510E97}"/>
              </a:ext>
            </a:extLst>
          </p:cNvPr>
          <p:cNvSpPr txBox="1"/>
          <p:nvPr/>
        </p:nvSpPr>
        <p:spPr>
          <a:xfrm>
            <a:off x="1112027" y="2927382"/>
            <a:ext cx="29915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Chelsea Market" panose="020B0604020202020204" charset="0"/>
              </a:rPr>
              <a:t>HARDWARE</a:t>
            </a:r>
            <a:endParaRPr lang="en-IN" sz="4000" dirty="0">
              <a:solidFill>
                <a:schemeClr val="accent1"/>
              </a:solidFill>
              <a:latin typeface="Chelsea Market" panose="020B0604020202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0DDD98-2336-9EA2-A86F-2EB725577C55}"/>
              </a:ext>
            </a:extLst>
          </p:cNvPr>
          <p:cNvSpPr txBox="1"/>
          <p:nvPr/>
        </p:nvSpPr>
        <p:spPr>
          <a:xfrm>
            <a:off x="1112027" y="7542182"/>
            <a:ext cx="28087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Chelsea Market" panose="020B0604020202020204" charset="0"/>
              </a:rPr>
              <a:t>SOFTWARE</a:t>
            </a:r>
            <a:endParaRPr lang="en-IN" sz="4000" dirty="0">
              <a:solidFill>
                <a:schemeClr val="accent1"/>
              </a:solidFill>
              <a:latin typeface="Chelsea Market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DF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g35e0a9deb46_0_289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71302" y="0"/>
            <a:ext cx="14604394" cy="1383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35e0a9deb46_0_289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52581" y="9321800"/>
            <a:ext cx="3746968" cy="374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5e0a9deb46_0_289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9067" y="774700"/>
            <a:ext cx="3442130" cy="344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5e0a9deb46_0_289"/>
          <p:cNvSpPr/>
          <p:nvPr/>
        </p:nvSpPr>
        <p:spPr>
          <a:xfrm>
            <a:off x="23370921" y="10515600"/>
            <a:ext cx="1016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35e0a9deb46_0_289"/>
          <p:cNvSpPr/>
          <p:nvPr/>
        </p:nvSpPr>
        <p:spPr>
          <a:xfrm>
            <a:off x="4305838" y="3403600"/>
            <a:ext cx="15762600" cy="6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35e0a9deb46_0_289"/>
          <p:cNvSpPr/>
          <p:nvPr/>
        </p:nvSpPr>
        <p:spPr>
          <a:xfrm>
            <a:off x="4305838" y="3403600"/>
            <a:ext cx="15762600" cy="5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C679E8-2BCF-EAF6-894E-585121FA2C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6676216" y="3040074"/>
            <a:ext cx="3092711" cy="25089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9053A0-7F8E-3098-2DE3-F59272BBF1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54564" y="3318623"/>
            <a:ext cx="3442129" cy="28544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1C568E-6249-A147-81D6-BDDEF48E16A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5495" b="73296" l="62830" r="95870"/>
                    </a14:imgEffect>
                  </a14:imgLayer>
                </a14:imgProps>
              </a:ext>
            </a:extLst>
          </a:blip>
          <a:srcRect l="58700" t="19520" b="20729"/>
          <a:stretch>
            <a:fillRect/>
          </a:stretch>
        </p:blipFill>
        <p:spPr>
          <a:xfrm>
            <a:off x="3243498" y="8460844"/>
            <a:ext cx="4857778" cy="4685307"/>
          </a:xfrm>
          <a:prstGeom prst="rect">
            <a:avLst/>
          </a:prstGeom>
        </p:spPr>
      </p:pic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562F9546-214F-A81B-1A9D-0B2B138FF8F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527257" y="4276879"/>
            <a:ext cx="2421663" cy="750756"/>
          </a:xfrm>
          <a:prstGeom prst="curvedConnector3">
            <a:avLst>
              <a:gd name="adj1" fmla="val 50000"/>
            </a:avLst>
          </a:prstGeom>
          <a:ln w="11430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D494135-B349-D264-D437-03BC01697AC5}"/>
              </a:ext>
            </a:extLst>
          </p:cNvPr>
          <p:cNvSpPr txBox="1"/>
          <p:nvPr/>
        </p:nvSpPr>
        <p:spPr>
          <a:xfrm>
            <a:off x="5749671" y="9815811"/>
            <a:ext cx="1442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helsea Market" panose="020B0604020202020204" charset="0"/>
              </a:rPr>
              <a:t>GOOGLE</a:t>
            </a:r>
          </a:p>
          <a:p>
            <a:pPr algn="ctr"/>
            <a:r>
              <a:rPr lang="en-US" sz="2000" dirty="0">
                <a:latin typeface="Chelsea Market" panose="020B0604020202020204" charset="0"/>
              </a:rPr>
              <a:t>SHEETS</a:t>
            </a:r>
            <a:endParaRPr lang="en-IN" sz="2000" dirty="0">
              <a:latin typeface="Chelsea Market" panose="020B0604020202020204" charset="0"/>
            </a:endParaRP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0105BAC4-364C-50E7-78B4-B91E6091F1B6}"/>
              </a:ext>
            </a:extLst>
          </p:cNvPr>
          <p:cNvCxnSpPr>
            <a:cxnSpLocks/>
          </p:cNvCxnSpPr>
          <p:nvPr/>
        </p:nvCxnSpPr>
        <p:spPr>
          <a:xfrm>
            <a:off x="7417199" y="5010452"/>
            <a:ext cx="2433909" cy="1472801"/>
          </a:xfrm>
          <a:prstGeom prst="curvedConnector3">
            <a:avLst>
              <a:gd name="adj1" fmla="val 50000"/>
            </a:avLst>
          </a:prstGeom>
          <a:ln w="11430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B5DF77B6-F8A4-4212-52DA-3A3F1748885B}"/>
              </a:ext>
            </a:extLst>
          </p:cNvPr>
          <p:cNvCxnSpPr>
            <a:cxnSpLocks/>
          </p:cNvCxnSpPr>
          <p:nvPr/>
        </p:nvCxnSpPr>
        <p:spPr>
          <a:xfrm rot="10800000" flipV="1">
            <a:off x="7620000" y="8534500"/>
            <a:ext cx="1954220" cy="1547826"/>
          </a:xfrm>
          <a:prstGeom prst="curvedConnector3">
            <a:avLst>
              <a:gd name="adj1" fmla="val 22965"/>
            </a:avLst>
          </a:prstGeom>
          <a:ln w="11430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CC899CA9-72CE-7F75-7D5F-F569988A5A64}"/>
              </a:ext>
            </a:extLst>
          </p:cNvPr>
          <p:cNvCxnSpPr>
            <a:cxnSpLocks/>
          </p:cNvCxnSpPr>
          <p:nvPr/>
        </p:nvCxnSpPr>
        <p:spPr>
          <a:xfrm>
            <a:off x="13625069" y="8533486"/>
            <a:ext cx="2696401" cy="1548840"/>
          </a:xfrm>
          <a:prstGeom prst="curvedConnector3">
            <a:avLst>
              <a:gd name="adj1" fmla="val 50000"/>
            </a:avLst>
          </a:prstGeom>
          <a:ln w="11430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A73D760-9939-0400-027E-54FDDFEDA261}"/>
              </a:ext>
            </a:extLst>
          </p:cNvPr>
          <p:cNvSpPr txBox="1"/>
          <p:nvPr/>
        </p:nvSpPr>
        <p:spPr>
          <a:xfrm>
            <a:off x="467359" y="934720"/>
            <a:ext cx="78841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0" dirty="0">
                <a:solidFill>
                  <a:schemeClr val="tx1"/>
                </a:solidFill>
                <a:latin typeface="Chelsea Market" panose="020B0604020202020204" charset="0"/>
              </a:rPr>
              <a:t>B</a:t>
            </a:r>
            <a:r>
              <a:rPr lang="en-US" sz="7000" dirty="0">
                <a:solidFill>
                  <a:schemeClr val="accent1"/>
                </a:solidFill>
                <a:latin typeface="Chelsea Market" panose="020B0604020202020204" charset="0"/>
              </a:rPr>
              <a:t>LOCK </a:t>
            </a:r>
            <a:r>
              <a:rPr lang="en-US" sz="7000" dirty="0">
                <a:solidFill>
                  <a:schemeClr val="tx1"/>
                </a:solidFill>
                <a:latin typeface="Chelsea Market" panose="020B0604020202020204" charset="0"/>
              </a:rPr>
              <a:t>D</a:t>
            </a:r>
            <a:r>
              <a:rPr lang="en-US" sz="7000" dirty="0">
                <a:solidFill>
                  <a:schemeClr val="accent1"/>
                </a:solidFill>
                <a:latin typeface="Chelsea Market" panose="020B0604020202020204" charset="0"/>
              </a:rPr>
              <a:t>IAGRAM</a:t>
            </a:r>
            <a:endParaRPr lang="en-IN" sz="7000" dirty="0">
              <a:solidFill>
                <a:schemeClr val="accent1"/>
              </a:solidFill>
              <a:latin typeface="Chelsea Market" panose="020B060402020202020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1E5F9F-B29E-EE33-AAFF-54D9F79AA19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560871" y="7694443"/>
            <a:ext cx="2504238" cy="2226299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D216F3-1E68-7C5C-0890-AE97ABCD4269}"/>
              </a:ext>
            </a:extLst>
          </p:cNvPr>
          <p:cNvSpPr/>
          <p:nvPr/>
        </p:nvSpPr>
        <p:spPr>
          <a:xfrm>
            <a:off x="9927771" y="6173071"/>
            <a:ext cx="3553584" cy="2360415"/>
          </a:xfrm>
          <a:prstGeom prst="roundRect">
            <a:avLst/>
          </a:prstGeom>
          <a:solidFill>
            <a:srgbClr val="C5DDF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  <a:latin typeface="Chelsea Market" panose="020B0604020202020204" charset="0"/>
              </a:rPr>
              <a:t>ESP 32</a:t>
            </a:r>
            <a:endParaRPr lang="en-IN" sz="3200" dirty="0">
              <a:solidFill>
                <a:schemeClr val="accent1"/>
              </a:solidFill>
              <a:latin typeface="Chelsea Market" panose="020B060402020202020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9A1EC8-DE03-6D2E-E12A-09286BEF856B}"/>
              </a:ext>
            </a:extLst>
          </p:cNvPr>
          <p:cNvSpPr/>
          <p:nvPr/>
        </p:nvSpPr>
        <p:spPr>
          <a:xfrm>
            <a:off x="10627115" y="1562849"/>
            <a:ext cx="2433910" cy="1488741"/>
          </a:xfrm>
          <a:prstGeom prst="roundRect">
            <a:avLst/>
          </a:prstGeom>
          <a:solidFill>
            <a:srgbClr val="C5DDF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  <a:latin typeface="Chelsea Market" panose="020B0604020202020204" charset="0"/>
              </a:rPr>
              <a:t>I2C LCD DIAPLAY</a:t>
            </a:r>
            <a:endParaRPr lang="en-IN" sz="3200" dirty="0">
              <a:solidFill>
                <a:schemeClr val="accent1"/>
              </a:solidFill>
              <a:latin typeface="Chelsea Market" panose="020B060402020202020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1ACE4F-3AFD-0C3F-3782-CA3ACCEE2DD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29607" y="245112"/>
            <a:ext cx="2828925" cy="161925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A845EB-1A14-722C-BCBE-F322907D3420}"/>
              </a:ext>
            </a:extLst>
          </p:cNvPr>
          <p:cNvSpPr/>
          <p:nvPr/>
        </p:nvSpPr>
        <p:spPr>
          <a:xfrm>
            <a:off x="16907069" y="5283199"/>
            <a:ext cx="3174268" cy="1390407"/>
          </a:xfrm>
          <a:prstGeom prst="roundRect">
            <a:avLst/>
          </a:prstGeom>
          <a:solidFill>
            <a:srgbClr val="C5DDF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accent1"/>
                </a:solidFill>
                <a:latin typeface="Chelsea Market" panose="020B0604020202020204" charset="0"/>
              </a:rPr>
              <a:t>HUSKY LENS</a:t>
            </a:r>
            <a:endParaRPr lang="en-IN" sz="3000" dirty="0">
              <a:solidFill>
                <a:schemeClr val="accent1"/>
              </a:solidFill>
              <a:latin typeface="Chelsea Market" panose="020B060402020202020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B8E26D-8485-2BFB-760B-FB83AE3E4688}"/>
              </a:ext>
            </a:extLst>
          </p:cNvPr>
          <p:cNvSpPr/>
          <p:nvPr/>
        </p:nvSpPr>
        <p:spPr>
          <a:xfrm>
            <a:off x="16415776" y="9833829"/>
            <a:ext cx="3066369" cy="1805579"/>
          </a:xfrm>
          <a:prstGeom prst="roundRect">
            <a:avLst/>
          </a:prstGeom>
          <a:solidFill>
            <a:srgbClr val="C5DDF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  <a:latin typeface="Chelsea Market" panose="020B0604020202020204" charset="0"/>
              </a:rPr>
              <a:t>SERVO MOTOR</a:t>
            </a:r>
            <a:endParaRPr lang="en-IN" sz="3200" dirty="0">
              <a:solidFill>
                <a:schemeClr val="accent1"/>
              </a:solidFill>
              <a:latin typeface="Chelsea Market" panose="020B060402020202020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8BE8C7-F7E7-E840-F5D6-640D640204B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591903" y="8402940"/>
            <a:ext cx="4225320" cy="4225320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0FF5447-3209-825B-24E4-552FCDB919C4}"/>
              </a:ext>
            </a:extLst>
          </p:cNvPr>
          <p:cNvSpPr/>
          <p:nvPr/>
        </p:nvSpPr>
        <p:spPr>
          <a:xfrm>
            <a:off x="5017999" y="5969050"/>
            <a:ext cx="3021178" cy="1607359"/>
          </a:xfrm>
          <a:prstGeom prst="roundRect">
            <a:avLst/>
          </a:prstGeom>
          <a:solidFill>
            <a:srgbClr val="C5DDF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  <a:latin typeface="Chelsea Market" panose="020B0604020202020204" charset="0"/>
              </a:rPr>
              <a:t>POWER SUPPLY</a:t>
            </a:r>
            <a:endParaRPr lang="en-IN" sz="3200" dirty="0">
              <a:solidFill>
                <a:schemeClr val="accent1"/>
              </a:solidFill>
              <a:latin typeface="Chelsea Market" panose="020B060402020202020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5CDC922-57D7-648A-5E66-754BD4F5B90A}"/>
              </a:ext>
            </a:extLst>
          </p:cNvPr>
          <p:cNvSpPr/>
          <p:nvPr/>
        </p:nvSpPr>
        <p:spPr>
          <a:xfrm>
            <a:off x="5030987" y="10944440"/>
            <a:ext cx="3024927" cy="1574700"/>
          </a:xfrm>
          <a:prstGeom prst="roundRect">
            <a:avLst/>
          </a:prstGeom>
          <a:solidFill>
            <a:srgbClr val="C5DDF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/>
                </a:solidFill>
                <a:latin typeface="Chelsea Market" panose="020B0604020202020204" charset="0"/>
              </a:rPr>
              <a:t>DATA STORAGE &amp; </a:t>
            </a:r>
          </a:p>
          <a:p>
            <a:pPr algn="ctr"/>
            <a:r>
              <a:rPr lang="en-US" sz="2000" dirty="0">
                <a:solidFill>
                  <a:schemeClr val="accent1"/>
                </a:solidFill>
                <a:latin typeface="Chelsea Market" panose="020B0604020202020204" charset="0"/>
              </a:rPr>
              <a:t>MARKING ATTENDENCE</a:t>
            </a:r>
            <a:endParaRPr lang="en-IN" sz="2000" dirty="0">
              <a:solidFill>
                <a:schemeClr val="accent1"/>
              </a:solidFill>
              <a:latin typeface="Chelsea Market" panose="020B0604020202020204" charset="0"/>
            </a:endParaRP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A6959E74-0D38-2E8F-635F-5CAE9943CF78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625069" y="5807335"/>
            <a:ext cx="3129353" cy="1052065"/>
          </a:xfrm>
          <a:prstGeom prst="curvedConnector3">
            <a:avLst>
              <a:gd name="adj1" fmla="val 50000"/>
            </a:avLst>
          </a:prstGeom>
          <a:ln w="11430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DF1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g35e0a9deb46_0_399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74772" y="-647700"/>
            <a:ext cx="12511064" cy="1267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g35e0a9deb46_0_399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041530" y="5689600"/>
            <a:ext cx="13057232" cy="100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g35e0a9deb46_0_399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458867" y="8578850"/>
            <a:ext cx="4229629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g35e0a9deb46_0_399"/>
          <p:cNvSpPr/>
          <p:nvPr/>
        </p:nvSpPr>
        <p:spPr>
          <a:xfrm>
            <a:off x="23370921" y="10515600"/>
            <a:ext cx="1016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35e0a9deb46_0_399"/>
          <p:cNvSpPr/>
          <p:nvPr/>
        </p:nvSpPr>
        <p:spPr>
          <a:xfrm>
            <a:off x="13450981" y="6870700"/>
            <a:ext cx="8738700" cy="20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g35e0a9deb46_0_399"/>
          <p:cNvSpPr/>
          <p:nvPr/>
        </p:nvSpPr>
        <p:spPr>
          <a:xfrm>
            <a:off x="13450981" y="6870700"/>
            <a:ext cx="8738700" cy="20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078A27-0C06-0E45-98F8-97ACFBA7D30A}"/>
              </a:ext>
            </a:extLst>
          </p:cNvPr>
          <p:cNvSpPr txBox="1"/>
          <p:nvPr/>
        </p:nvSpPr>
        <p:spPr>
          <a:xfrm>
            <a:off x="399708" y="711192"/>
            <a:ext cx="134640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000" dirty="0">
                <a:solidFill>
                  <a:schemeClr val="accent1"/>
                </a:solidFill>
                <a:latin typeface="Chelsea Market" panose="020B0604020202020204" charset="0"/>
              </a:rPr>
              <a:t>Implementation Steps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0D37874-F60F-D4D9-1F97-F31E973D9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8911" y="2003911"/>
            <a:ext cx="176395224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helsea Market" panose="020B0604020202020204" charset="0"/>
              </a:rPr>
              <a:t>Component Collection &amp; Setup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500" b="0" dirty="0">
                <a:solidFill>
                  <a:schemeClr val="tx1"/>
                </a:solidFill>
                <a:latin typeface="Chelsea Market" panose="020B0604020202020204" charset="0"/>
              </a:rPr>
              <a:t>  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ESP32, Husky Lens, Servo Motor, LCD, Breadboard, Jumper Wires, Power Supply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helsea Market" panose="020B0604020202020204" charset="0"/>
              </a:rPr>
              <a:t>Hardware Connections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helsea Market" panose="020B0604020202020204" charset="0"/>
              </a:rPr>
              <a:t>  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Connect ESP32 with </a:t>
            </a:r>
            <a:r>
              <a:rPr lang="en-US" altLang="en-US" sz="2200" dirty="0">
                <a:solidFill>
                  <a:schemeClr val="tx1"/>
                </a:solidFill>
                <a:latin typeface="DM Sans" pitchFamily="2" charset="0"/>
              </a:rPr>
              <a:t>Husky Lens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solidFill>
                  <a:schemeClr val="tx1"/>
                </a:solidFill>
                <a:latin typeface="DM Sans" pitchFamily="2" charset="0"/>
              </a:rPr>
              <a:t>      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Wire Servo, LCD (I²C), and ensure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common ground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across all components.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69D6A8E-9025-E6B8-8776-0D4E5E257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8911" y="4424209"/>
            <a:ext cx="14425126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helsea Market" panose="020B0604020202020204" charset="0"/>
              </a:rPr>
              <a:t>Software &amp; Environment Setup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500" b="0" dirty="0">
                <a:solidFill>
                  <a:schemeClr val="tx1"/>
                </a:solidFill>
                <a:latin typeface="Chelsea Market" panose="020B0604020202020204" charset="0"/>
              </a:rPr>
              <a:t>  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Install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Arduino IDE </a:t>
            </a:r>
            <a:endParaRPr lang="en-US" altLang="en-US" sz="2200" dirty="0">
              <a:solidFill>
                <a:schemeClr val="tx1"/>
              </a:solidFill>
              <a:latin typeface="DM Sans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      Add ESP32 board support and required libraries (ESP32, Husky lens, Servo, Wire, LiquidCrystal_I2C).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helsea Market" panose="020B0604020202020204" charset="0"/>
              </a:rPr>
              <a:t>Face Recognition Model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helsea Market" panose="020B0604020202020204" charset="0"/>
              </a:rPr>
              <a:t>  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Capture and register student faces via </a:t>
            </a:r>
            <a:r>
              <a:rPr lang="en-US" altLang="en-US" sz="2200" dirty="0">
                <a:solidFill>
                  <a:schemeClr val="tx1"/>
                </a:solidFill>
                <a:latin typeface="DM Sans" pitchFamily="2" charset="0"/>
              </a:rPr>
              <a:t>Husky Lens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.</a:t>
            </a:r>
            <a:endParaRPr lang="en-US" altLang="en-US" sz="2200" dirty="0">
              <a:solidFill>
                <a:schemeClr val="tx1"/>
              </a:solidFill>
              <a:latin typeface="DM Sans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      Train / encode face data for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helsea Market" panose="020B0604020202020204" charset="0"/>
              </a:rPr>
              <a:t>System Programming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500" b="0" dirty="0">
                <a:solidFill>
                  <a:schemeClr val="tx1"/>
                </a:solidFill>
                <a:latin typeface="Chelsea Market" panose="020B0604020202020204" charset="0"/>
              </a:rPr>
              <a:t>  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Write and upload code for: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Face Detection + Recognition.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Servo sweeping mechanism.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LCD attendance feedback.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 Wi-Fi logging to Google Sheets.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72B7F8D-42C8-2E4B-7D0F-E18807FDC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8911" y="9679537"/>
            <a:ext cx="11725902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helsea Market" panose="020B0604020202020204" charset="0"/>
              </a:rPr>
              <a:t>Testing &amp; Debugging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helsea Market" panose="020B0604020202020204" charset="0"/>
              </a:rPr>
              <a:t>  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Check individual modules (Servo rotation, LCD output, Wi-Fi connection).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solidFill>
                  <a:schemeClr val="tx1"/>
                </a:solidFill>
                <a:latin typeface="DM Sans" pitchFamily="2" charset="0"/>
              </a:rPr>
              <a:t>      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M Sans" pitchFamily="2" charset="0"/>
              </a:rPr>
              <a:t>Run end-to-end system test with multiple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0C54B7-627F-024D-55F1-42C78C784922}"/>
              </a:ext>
            </a:extLst>
          </p:cNvPr>
          <p:cNvSpPr txBox="1"/>
          <p:nvPr/>
        </p:nvSpPr>
        <p:spPr>
          <a:xfrm>
            <a:off x="5152596" y="11542533"/>
            <a:ext cx="15177553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500" dirty="0">
                <a:solidFill>
                  <a:schemeClr val="tx1"/>
                </a:solidFill>
                <a:latin typeface="Chelsea Market" panose="020B0604020202020204" charset="0"/>
              </a:rPr>
              <a:t>Deployment &amp; Demonstration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3500" dirty="0">
                <a:solidFill>
                  <a:schemeClr val="tx1"/>
                </a:solidFill>
                <a:latin typeface="Chelsea Market" panose="020B0604020202020204" charset="0"/>
              </a:rPr>
              <a:t>   </a:t>
            </a:r>
            <a:r>
              <a:rPr lang="en-US" altLang="en-US" sz="2200" dirty="0">
                <a:solidFill>
                  <a:schemeClr val="tx1"/>
                </a:solidFill>
                <a:latin typeface="DM Sans" pitchFamily="2" charset="0"/>
              </a:rPr>
              <a:t>Mount ESP32 &amp; Husky Lens above the classroom board.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200" dirty="0">
                <a:solidFill>
                  <a:schemeClr val="tx1"/>
                </a:solidFill>
                <a:latin typeface="DM Sans" pitchFamily="2" charset="0"/>
              </a:rPr>
              <a:t>       Run live demo: camera scans → face recognized → attendance logged → LCD confirmation → Sheets updated</a:t>
            </a:r>
            <a:r>
              <a:rPr lang="en-US" altLang="en-US" dirty="0">
                <a:solidFill>
                  <a:schemeClr val="tx1"/>
                </a:solidFill>
                <a:latin typeface="DM Sans" pitchFamily="2" charset="0"/>
              </a:rPr>
              <a:t>.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22EB7D-663B-A277-A70A-03CA1BEBDA45}"/>
              </a:ext>
            </a:extLst>
          </p:cNvPr>
          <p:cNvSpPr txBox="1"/>
          <p:nvPr/>
        </p:nvSpPr>
        <p:spPr>
          <a:xfrm>
            <a:off x="3180913" y="2491434"/>
            <a:ext cx="12984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000" dirty="0"/>
              <a:t>🛠️</a:t>
            </a:r>
            <a:r>
              <a:rPr lang="en-IN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C29CAF-594C-A17B-0DA6-4AC645F9834E}"/>
              </a:ext>
            </a:extLst>
          </p:cNvPr>
          <p:cNvSpPr txBox="1"/>
          <p:nvPr/>
        </p:nvSpPr>
        <p:spPr>
          <a:xfrm>
            <a:off x="3121456" y="5761205"/>
            <a:ext cx="141737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000" dirty="0"/>
              <a:t>💻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9DE60D-E5F4-2680-A8C7-E995ECA2DBF0}"/>
              </a:ext>
            </a:extLst>
          </p:cNvPr>
          <p:cNvSpPr txBox="1"/>
          <p:nvPr/>
        </p:nvSpPr>
        <p:spPr>
          <a:xfrm>
            <a:off x="3121456" y="9756437"/>
            <a:ext cx="141737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000" dirty="0"/>
              <a:t>🔍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52F925-A1B0-E1B2-ACD9-C0980CE0697C}"/>
              </a:ext>
            </a:extLst>
          </p:cNvPr>
          <p:cNvSpPr txBox="1"/>
          <p:nvPr/>
        </p:nvSpPr>
        <p:spPr>
          <a:xfrm>
            <a:off x="3121456" y="11514880"/>
            <a:ext cx="141737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000" dirty="0"/>
              <a:t>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DF1"/>
        </a:solidFill>
        <a:effectLst/>
      </p:bgPr>
    </p:bg>
    <p:spTree>
      <p:nvGrpSpPr>
        <p:cNvPr id="1" name="Shape 603">
          <a:extLst>
            <a:ext uri="{FF2B5EF4-FFF2-40B4-BE49-F238E27FC236}">
              <a16:creationId xmlns:a16="http://schemas.microsoft.com/office/drawing/2014/main" id="{02AFF30B-4ECA-0D6D-A320-C400EE6F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g35e0a9deb46_0_566" descr=" ">
            <a:extLst>
              <a:ext uri="{FF2B5EF4-FFF2-40B4-BE49-F238E27FC236}">
                <a16:creationId xmlns:a16="http://schemas.microsoft.com/office/drawing/2014/main" id="{968E91A3-1FDD-7DE0-6832-D773581217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04784" y="0"/>
            <a:ext cx="12511064" cy="1267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g35e0a9deb46_0_566" descr=" ">
            <a:extLst>
              <a:ext uri="{FF2B5EF4-FFF2-40B4-BE49-F238E27FC236}">
                <a16:creationId xmlns:a16="http://schemas.microsoft.com/office/drawing/2014/main" id="{0BECD886-743A-032F-FAEF-3A59C24B4BE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041530" y="5689600"/>
            <a:ext cx="13057232" cy="100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5e0a9deb46_0_566" descr=" ">
            <a:extLst>
              <a:ext uri="{FF2B5EF4-FFF2-40B4-BE49-F238E27FC236}">
                <a16:creationId xmlns:a16="http://schemas.microsoft.com/office/drawing/2014/main" id="{3ED46297-B941-643D-09D1-E0C7A7A01B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141292" y="8623200"/>
            <a:ext cx="4229629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g35e0a9deb46_0_566">
            <a:extLst>
              <a:ext uri="{FF2B5EF4-FFF2-40B4-BE49-F238E27FC236}">
                <a16:creationId xmlns:a16="http://schemas.microsoft.com/office/drawing/2014/main" id="{91F8D12B-6F28-644A-F4FD-5E170C11FEC9}"/>
              </a:ext>
            </a:extLst>
          </p:cNvPr>
          <p:cNvSpPr/>
          <p:nvPr/>
        </p:nvSpPr>
        <p:spPr>
          <a:xfrm>
            <a:off x="23370921" y="10515600"/>
            <a:ext cx="1016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g35e0a9deb46_0_566">
            <a:extLst>
              <a:ext uri="{FF2B5EF4-FFF2-40B4-BE49-F238E27FC236}">
                <a16:creationId xmlns:a16="http://schemas.microsoft.com/office/drawing/2014/main" id="{0F533AA2-D56F-397E-FC93-79847EDE1A2F}"/>
              </a:ext>
            </a:extLst>
          </p:cNvPr>
          <p:cNvSpPr/>
          <p:nvPr/>
        </p:nvSpPr>
        <p:spPr>
          <a:xfrm>
            <a:off x="3670759" y="3975100"/>
            <a:ext cx="17032800" cy="70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g35e0a9deb46_0_566">
            <a:extLst>
              <a:ext uri="{FF2B5EF4-FFF2-40B4-BE49-F238E27FC236}">
                <a16:creationId xmlns:a16="http://schemas.microsoft.com/office/drawing/2014/main" id="{F346A160-83A9-0835-03DE-31927057B770}"/>
              </a:ext>
            </a:extLst>
          </p:cNvPr>
          <p:cNvSpPr/>
          <p:nvPr/>
        </p:nvSpPr>
        <p:spPr>
          <a:xfrm>
            <a:off x="3670759" y="3975100"/>
            <a:ext cx="170328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g35e0a9deb46_0_566">
            <a:extLst>
              <a:ext uri="{FF2B5EF4-FFF2-40B4-BE49-F238E27FC236}">
                <a16:creationId xmlns:a16="http://schemas.microsoft.com/office/drawing/2014/main" id="{4594965C-DC78-88CE-DEAB-7097BDF827A0}"/>
              </a:ext>
            </a:extLst>
          </p:cNvPr>
          <p:cNvSpPr/>
          <p:nvPr/>
        </p:nvSpPr>
        <p:spPr>
          <a:xfrm>
            <a:off x="3670759" y="5651500"/>
            <a:ext cx="170328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g35e0a9deb46_0_566">
            <a:extLst>
              <a:ext uri="{FF2B5EF4-FFF2-40B4-BE49-F238E27FC236}">
                <a16:creationId xmlns:a16="http://schemas.microsoft.com/office/drawing/2014/main" id="{54F5DF67-3B85-C542-5070-F389562435FA}"/>
              </a:ext>
            </a:extLst>
          </p:cNvPr>
          <p:cNvSpPr/>
          <p:nvPr/>
        </p:nvSpPr>
        <p:spPr>
          <a:xfrm>
            <a:off x="3670759" y="6845300"/>
            <a:ext cx="170328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g35e0a9deb46_0_566">
            <a:extLst>
              <a:ext uri="{FF2B5EF4-FFF2-40B4-BE49-F238E27FC236}">
                <a16:creationId xmlns:a16="http://schemas.microsoft.com/office/drawing/2014/main" id="{4271C398-B28E-2BFD-C7C6-7FCFC8AE2D1B}"/>
              </a:ext>
            </a:extLst>
          </p:cNvPr>
          <p:cNvSpPr/>
          <p:nvPr/>
        </p:nvSpPr>
        <p:spPr>
          <a:xfrm>
            <a:off x="3670759" y="8039100"/>
            <a:ext cx="170328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g35e0a9deb46_0_566">
            <a:extLst>
              <a:ext uri="{FF2B5EF4-FFF2-40B4-BE49-F238E27FC236}">
                <a16:creationId xmlns:a16="http://schemas.microsoft.com/office/drawing/2014/main" id="{001B7CFF-0B31-4F28-3667-A8527E7D033A}"/>
              </a:ext>
            </a:extLst>
          </p:cNvPr>
          <p:cNvSpPr/>
          <p:nvPr/>
        </p:nvSpPr>
        <p:spPr>
          <a:xfrm>
            <a:off x="3670759" y="9232900"/>
            <a:ext cx="170328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g35e0a9deb46_0_566">
            <a:extLst>
              <a:ext uri="{FF2B5EF4-FFF2-40B4-BE49-F238E27FC236}">
                <a16:creationId xmlns:a16="http://schemas.microsoft.com/office/drawing/2014/main" id="{94D32ADD-971D-B524-36FC-1AB05D486FF1}"/>
              </a:ext>
            </a:extLst>
          </p:cNvPr>
          <p:cNvSpPr/>
          <p:nvPr/>
        </p:nvSpPr>
        <p:spPr>
          <a:xfrm>
            <a:off x="3670759" y="10426700"/>
            <a:ext cx="170328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68BD81F0-BB6E-ADFC-D471-3AAC004B9036}"/>
              </a:ext>
            </a:extLst>
          </p:cNvPr>
          <p:cNvSpPr/>
          <p:nvPr/>
        </p:nvSpPr>
        <p:spPr>
          <a:xfrm>
            <a:off x="6207072" y="2860855"/>
            <a:ext cx="10689554" cy="1882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7000" dirty="0">
                <a:solidFill>
                  <a:schemeClr val="tx1"/>
                </a:solidFill>
                <a:latin typeface="Chelsea Market" panose="020B0604020202020204" charset="0"/>
                <a:ea typeface="Unbounded" pitchFamily="34" charset="-122"/>
                <a:cs typeface="Unbounded" pitchFamily="34" charset="-120"/>
              </a:rPr>
              <a:t>Real-World Scenario</a:t>
            </a:r>
            <a:endParaRPr lang="en-US" sz="7000" dirty="0">
              <a:solidFill>
                <a:schemeClr val="tx1"/>
              </a:solidFill>
              <a:latin typeface="Chelsea Market" panose="020B060402020202020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6525E21-85F0-D0B3-2480-F763BEB5B272}"/>
              </a:ext>
            </a:extLst>
          </p:cNvPr>
          <p:cNvSpPr/>
          <p:nvPr/>
        </p:nvSpPr>
        <p:spPr>
          <a:xfrm>
            <a:off x="4317602" y="3829475"/>
            <a:ext cx="15396199" cy="4671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Placing the ESP32 &amp; Husky Lens above the board is ideal. It provides a wide-angle view, minimises tampering, and ensures students face the camera naturally. To handle 50+ students efficiently, consider:</a:t>
            </a:r>
            <a:endParaRPr lang="en-US" sz="30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4B9F243F-E59F-D121-054F-18EE3CE54A46}"/>
              </a:ext>
            </a:extLst>
          </p:cNvPr>
          <p:cNvSpPr/>
          <p:nvPr/>
        </p:nvSpPr>
        <p:spPr>
          <a:xfrm>
            <a:off x="4358618" y="6836014"/>
            <a:ext cx="8676608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30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Wide-Angle Lens: Essential for capturing all faces from a distance.</a:t>
            </a:r>
            <a:endParaRPr lang="en-US" sz="30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128CED0-9CCF-22A5-374A-D573332B3BA7}"/>
              </a:ext>
            </a:extLst>
          </p:cNvPr>
          <p:cNvSpPr/>
          <p:nvPr/>
        </p:nvSpPr>
        <p:spPr>
          <a:xfrm>
            <a:off x="4358618" y="7314268"/>
            <a:ext cx="15236872" cy="4288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30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Optimised Lighting: Ensure the classroom is well-lit, possibly adding a small LED for consistency.</a:t>
            </a:r>
            <a:endParaRPr lang="en-US" sz="30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13" name="Google Shape;703;g35e0a9deb46_0_660">
            <a:extLst>
              <a:ext uri="{FF2B5EF4-FFF2-40B4-BE49-F238E27FC236}">
                <a16:creationId xmlns:a16="http://schemas.microsoft.com/office/drawing/2014/main" id="{D1F86F85-59C1-C6F6-9535-656FA29197D8}"/>
              </a:ext>
            </a:extLst>
          </p:cNvPr>
          <p:cNvSpPr/>
          <p:nvPr/>
        </p:nvSpPr>
        <p:spPr>
          <a:xfrm>
            <a:off x="23523321" y="10668000"/>
            <a:ext cx="1016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666B52-38EB-47E5-B9E0-6ED086F573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1270" y="8347550"/>
            <a:ext cx="7461158" cy="48630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4722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DF1"/>
        </a:solidFill>
        <a:effectLst/>
      </p:bgPr>
    </p:bg>
    <p:spTree>
      <p:nvGrpSpPr>
        <p:cNvPr id="1" name="Shape 93">
          <a:extLst>
            <a:ext uri="{FF2B5EF4-FFF2-40B4-BE49-F238E27FC236}">
              <a16:creationId xmlns:a16="http://schemas.microsoft.com/office/drawing/2014/main" id="{FF638391-75A8-11CA-04A6-5A61FD439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35e0a9deb46_0_75" descr=" ">
            <a:extLst>
              <a:ext uri="{FF2B5EF4-FFF2-40B4-BE49-F238E27FC236}">
                <a16:creationId xmlns:a16="http://schemas.microsoft.com/office/drawing/2014/main" id="{53744E06-BFFD-7AB6-1F56-B6E95A8BEE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81048" y="6403094"/>
            <a:ext cx="15775372" cy="876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35e0a9deb46_0_75" descr=" ">
            <a:extLst>
              <a:ext uri="{FF2B5EF4-FFF2-40B4-BE49-F238E27FC236}">
                <a16:creationId xmlns:a16="http://schemas.microsoft.com/office/drawing/2014/main" id="{DD8972C8-5C69-F55A-5206-985B5B2120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78597" y="-1943100"/>
            <a:ext cx="17947343" cy="895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5e0a9deb46_0_75" descr=" ">
            <a:extLst>
              <a:ext uri="{FF2B5EF4-FFF2-40B4-BE49-F238E27FC236}">
                <a16:creationId xmlns:a16="http://schemas.microsoft.com/office/drawing/2014/main" id="{3856327F-5410-E2B1-F23E-E133F517710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191" y="-2082800"/>
            <a:ext cx="4229629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5e0a9deb46_0_75">
            <a:extLst>
              <a:ext uri="{FF2B5EF4-FFF2-40B4-BE49-F238E27FC236}">
                <a16:creationId xmlns:a16="http://schemas.microsoft.com/office/drawing/2014/main" id="{DA1C39DE-B4E1-D7CC-CD23-533E05659D6E}"/>
              </a:ext>
            </a:extLst>
          </p:cNvPr>
          <p:cNvSpPr/>
          <p:nvPr/>
        </p:nvSpPr>
        <p:spPr>
          <a:xfrm>
            <a:off x="23370921" y="10515600"/>
            <a:ext cx="1016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EFFA8F5-F835-753F-58D3-A114A163A755}"/>
              </a:ext>
            </a:extLst>
          </p:cNvPr>
          <p:cNvSpPr/>
          <p:nvPr/>
        </p:nvSpPr>
        <p:spPr>
          <a:xfrm>
            <a:off x="5187077" y="11972806"/>
            <a:ext cx="13247846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Our solution offers a modern, accurate, and hygienic alternative, streamlining the attendance process for institutions.</a:t>
            </a:r>
            <a:endParaRPr lang="en-US" sz="135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41911149-3B9A-437C-F6BB-776C6A2F4F7D}"/>
              </a:ext>
            </a:extLst>
          </p:cNvPr>
          <p:cNvSpPr/>
          <p:nvPr/>
        </p:nvSpPr>
        <p:spPr>
          <a:xfrm>
            <a:off x="1037629" y="1391248"/>
            <a:ext cx="7174086" cy="110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5000" dirty="0">
                <a:solidFill>
                  <a:schemeClr val="tx1"/>
                </a:solidFill>
                <a:latin typeface="Chelsea Market" panose="020B0604020202020204" charset="0"/>
                <a:ea typeface="Unbounded" pitchFamily="34" charset="-122"/>
                <a:cs typeface="Unbounded" pitchFamily="34" charset="-120"/>
              </a:rPr>
              <a:t>SALIENT FEATURES</a:t>
            </a:r>
            <a:endParaRPr lang="en-US" sz="5000" dirty="0">
              <a:solidFill>
                <a:schemeClr val="tx1"/>
              </a:solidFill>
              <a:latin typeface="Chelsea Market" panose="020B0604020202020204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5BAE1924-1EAC-21A2-1561-7D630389B352}"/>
              </a:ext>
            </a:extLst>
          </p:cNvPr>
          <p:cNvSpPr/>
          <p:nvPr/>
        </p:nvSpPr>
        <p:spPr>
          <a:xfrm>
            <a:off x="1037630" y="2667176"/>
            <a:ext cx="6668260" cy="192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500" dirty="0">
                <a:solidFill>
                  <a:schemeClr val="tx1"/>
                </a:solidFill>
                <a:latin typeface="+mj-lt"/>
                <a:ea typeface="Unbounded" pitchFamily="34" charset="-122"/>
                <a:cs typeface="Unbounded" pitchFamily="34" charset="-120"/>
              </a:rPr>
              <a:t>Contactless &amp; Hygienic</a:t>
            </a:r>
          </a:p>
          <a:p>
            <a:pPr>
              <a:lnSpc>
                <a:spcPct val="200000"/>
              </a:lnSpc>
            </a:pPr>
            <a:r>
              <a:rPr lang="en-US" sz="25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Eliminates physical touchpoints, crucial in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health-conscious environments.</a:t>
            </a:r>
            <a:endParaRPr lang="en-US" sz="2500" dirty="0">
              <a:solidFill>
                <a:schemeClr val="tx1"/>
              </a:solidFill>
              <a:latin typeface="DM Sans" pitchFamily="2" charset="0"/>
            </a:endParaRPr>
          </a:p>
          <a:p>
            <a:pPr marL="0" indent="0" algn="l">
              <a:lnSpc>
                <a:spcPts val="2400"/>
              </a:lnSpc>
              <a:buNone/>
            </a:pPr>
            <a:endParaRPr lang="en-US" sz="3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F725CB87-4DF4-3EC4-9FB2-47CAE7D81121}"/>
              </a:ext>
            </a:extLst>
          </p:cNvPr>
          <p:cNvSpPr/>
          <p:nvPr/>
        </p:nvSpPr>
        <p:spPr>
          <a:xfrm>
            <a:off x="1037630" y="2958465"/>
            <a:ext cx="6083986" cy="348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25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E2ACDF8D-173B-29F9-F5B7-38BE2ADBF11D}"/>
              </a:ext>
            </a:extLst>
          </p:cNvPr>
          <p:cNvSpPr/>
          <p:nvPr/>
        </p:nvSpPr>
        <p:spPr>
          <a:xfrm>
            <a:off x="1037629" y="4887684"/>
            <a:ext cx="6668260" cy="215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500" dirty="0">
                <a:solidFill>
                  <a:schemeClr val="tx1"/>
                </a:solidFill>
                <a:latin typeface="+mj-lt"/>
                <a:ea typeface="Unbounded" pitchFamily="34" charset="-122"/>
                <a:cs typeface="Unbounded" pitchFamily="34" charset="-120"/>
              </a:rPr>
              <a:t>Fast &amp; Efficient</a:t>
            </a:r>
          </a:p>
          <a:p>
            <a:pPr>
              <a:lnSpc>
                <a:spcPct val="200000"/>
              </a:lnSpc>
            </a:pPr>
            <a:r>
              <a:rPr lang="en-US" sz="25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Recognizes an entire class of 50+ students</a:t>
            </a:r>
          </a:p>
          <a:p>
            <a:r>
              <a:rPr lang="en-US" sz="25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in 2-3 minutes, saving valuable time</a:t>
            </a:r>
            <a:r>
              <a:rPr lang="en-US" sz="32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.</a:t>
            </a:r>
            <a:endParaRPr lang="en-US" sz="3200" dirty="0">
              <a:solidFill>
                <a:schemeClr val="tx1"/>
              </a:solidFill>
              <a:latin typeface="DM Sans" pitchFamily="2" charset="0"/>
            </a:endParaRPr>
          </a:p>
          <a:p>
            <a:pPr marL="0" indent="0" algn="l">
              <a:lnSpc>
                <a:spcPts val="2400"/>
              </a:lnSpc>
              <a:buNone/>
            </a:pPr>
            <a:endParaRPr lang="en-US" sz="3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BD5A6D2C-97C4-A90A-72A1-DB3606B4FDFF}"/>
              </a:ext>
            </a:extLst>
          </p:cNvPr>
          <p:cNvSpPr/>
          <p:nvPr/>
        </p:nvSpPr>
        <p:spPr>
          <a:xfrm>
            <a:off x="15879061" y="2622598"/>
            <a:ext cx="7470483" cy="174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500" dirty="0">
                <a:solidFill>
                  <a:schemeClr val="tx1"/>
                </a:solidFill>
                <a:latin typeface="+mj-lt"/>
                <a:ea typeface="Unbounded" pitchFamily="34" charset="-122"/>
                <a:cs typeface="Unbounded" pitchFamily="34" charset="-120"/>
              </a:rPr>
              <a:t>Accurate &amp; Reliable</a:t>
            </a:r>
          </a:p>
          <a:p>
            <a:pPr>
              <a:lnSpc>
                <a:spcPct val="200000"/>
              </a:lnSpc>
            </a:pPr>
            <a:r>
              <a:rPr lang="en-US" sz="25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Prevents proxy attendance, ensuring precise 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records and increased accountability.</a:t>
            </a:r>
            <a:endParaRPr lang="en-US" sz="2500" dirty="0">
              <a:solidFill>
                <a:schemeClr val="tx1"/>
              </a:solidFill>
              <a:latin typeface="DM Sans" pitchFamily="2" charset="0"/>
            </a:endParaRPr>
          </a:p>
          <a:p>
            <a:pPr marL="0" indent="0" algn="l">
              <a:lnSpc>
                <a:spcPts val="2400"/>
              </a:lnSpc>
              <a:buNone/>
            </a:pPr>
            <a:endParaRPr lang="en-US" sz="3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E3864136-0355-7EE7-A821-0165B3790690}"/>
              </a:ext>
            </a:extLst>
          </p:cNvPr>
          <p:cNvSpPr/>
          <p:nvPr/>
        </p:nvSpPr>
        <p:spPr>
          <a:xfrm>
            <a:off x="8260464" y="2622598"/>
            <a:ext cx="6886209" cy="162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500" dirty="0">
                <a:solidFill>
                  <a:schemeClr val="tx1"/>
                </a:solidFill>
                <a:latin typeface="+mj-lt"/>
              </a:rPr>
              <a:t>Google Logging</a:t>
            </a:r>
          </a:p>
          <a:p>
            <a:pPr>
              <a:lnSpc>
                <a:spcPct val="200000"/>
              </a:lnSpc>
            </a:pPr>
            <a:r>
              <a:rPr lang="en-US" sz="25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Centralizes attendance data on Google Sheets, 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accessible anywhere, anytime.</a:t>
            </a:r>
            <a:endParaRPr lang="en-US" sz="2500" dirty="0">
              <a:solidFill>
                <a:schemeClr val="tx1"/>
              </a:solidFill>
              <a:latin typeface="DM Sans" pitchFamily="2" charset="0"/>
            </a:endParaRPr>
          </a:p>
          <a:p>
            <a:pPr marL="0" indent="0" algn="l">
              <a:lnSpc>
                <a:spcPts val="2400"/>
              </a:lnSpc>
              <a:buNone/>
            </a:pPr>
            <a:endParaRPr lang="en-US" sz="3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A6108E4D-1DF8-8859-7E36-DD49617DD3CD}"/>
              </a:ext>
            </a:extLst>
          </p:cNvPr>
          <p:cNvSpPr/>
          <p:nvPr/>
        </p:nvSpPr>
        <p:spPr>
          <a:xfrm>
            <a:off x="8260464" y="4939397"/>
            <a:ext cx="7370948" cy="215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500" dirty="0">
                <a:solidFill>
                  <a:schemeClr val="tx1"/>
                </a:solidFill>
                <a:latin typeface="+mj-lt"/>
                <a:ea typeface="Unbounded" pitchFamily="34" charset="-122"/>
                <a:cs typeface="Unbounded" pitchFamily="34" charset="-120"/>
              </a:rPr>
              <a:t>Scalable Solution</a:t>
            </a:r>
          </a:p>
          <a:p>
            <a:pPr>
              <a:lnSpc>
                <a:spcPct val="200000"/>
              </a:lnSpc>
            </a:pPr>
            <a:r>
              <a:rPr lang="en-US" sz="25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Easily adaptable for various settings, including 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multiple classrooms, laboratories, and offices.</a:t>
            </a:r>
            <a:endParaRPr lang="en-US" sz="2500" dirty="0">
              <a:solidFill>
                <a:schemeClr val="tx1"/>
              </a:solidFill>
              <a:latin typeface="DM Sans" pitchFamily="2" charset="0"/>
            </a:endParaRPr>
          </a:p>
          <a:p>
            <a:pPr marL="0" indent="0" algn="l">
              <a:lnSpc>
                <a:spcPts val="2400"/>
              </a:lnSpc>
              <a:buNone/>
            </a:pPr>
            <a:endParaRPr lang="en-US" sz="3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C5054125-F009-7EA1-0356-75CF769F2EFC}"/>
              </a:ext>
            </a:extLst>
          </p:cNvPr>
          <p:cNvSpPr/>
          <p:nvPr/>
        </p:nvSpPr>
        <p:spPr>
          <a:xfrm>
            <a:off x="15879062" y="4887684"/>
            <a:ext cx="7491859" cy="215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3500" dirty="0">
                <a:solidFill>
                  <a:schemeClr val="tx1"/>
                </a:solidFill>
                <a:latin typeface="+mj-lt"/>
                <a:ea typeface="Unbounded" pitchFamily="34" charset="-122"/>
                <a:cs typeface="Unbounded" pitchFamily="34" charset="-120"/>
              </a:rPr>
              <a:t>Modern &amp; Innovative</a:t>
            </a:r>
          </a:p>
          <a:p>
            <a:pPr>
              <a:lnSpc>
                <a:spcPct val="200000"/>
              </a:lnSpc>
            </a:pPr>
            <a:r>
              <a:rPr lang="en-US" sz="25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Showcases the application of IoT and AI in solving 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  <a:latin typeface="DM Sans" pitchFamily="2" charset="0"/>
                <a:ea typeface="Cabin" pitchFamily="34" charset="-122"/>
                <a:cs typeface="Cabin" pitchFamily="34" charset="-120"/>
              </a:rPr>
              <a:t>real-world problems, enhancing transparency.</a:t>
            </a:r>
            <a:endParaRPr lang="en-US" sz="2500" dirty="0">
              <a:solidFill>
                <a:schemeClr val="tx1"/>
              </a:solidFill>
              <a:latin typeface="DM Sans" pitchFamily="2" charset="0"/>
            </a:endParaRPr>
          </a:p>
          <a:p>
            <a:pPr marL="0" indent="0" algn="l">
              <a:lnSpc>
                <a:spcPts val="2400"/>
              </a:lnSpc>
              <a:buNone/>
            </a:pPr>
            <a:endParaRPr lang="en-US" sz="3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5E22C8-920C-19A5-C52C-408CB1B37DA3}"/>
              </a:ext>
            </a:extLst>
          </p:cNvPr>
          <p:cNvSpPr txBox="1"/>
          <p:nvPr/>
        </p:nvSpPr>
        <p:spPr>
          <a:xfrm>
            <a:off x="959580" y="6745285"/>
            <a:ext cx="10986358" cy="8479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latin typeface="Chelsea Market" panose="020B0604020202020204" charset="0"/>
              </a:rPr>
              <a:t>SYSTEM LIMITATIONS</a:t>
            </a:r>
          </a:p>
          <a:p>
            <a:pPr>
              <a:lnSpc>
                <a:spcPct val="200000"/>
              </a:lnSpc>
            </a:pPr>
            <a:r>
              <a:rPr lang="en-US" sz="3500" dirty="0"/>
              <a:t>Camera Limitations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DM Sans" pitchFamily="2" charset="0"/>
              </a:rPr>
              <a:t>Low resolution (2MP OV2640) struggles with long-distance (~20 ft).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DM Sans" pitchFamily="2" charset="0"/>
              </a:rPr>
              <a:t>Wide-angle lens distortion at edges reduces recognition accuracy.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DM Sans" pitchFamily="2" charset="0"/>
              </a:rPr>
              <a:t>Poor low-light performance; needs consistent lighting.</a:t>
            </a:r>
          </a:p>
          <a:p>
            <a:endParaRPr lang="en-US" sz="3000" dirty="0"/>
          </a:p>
          <a:p>
            <a:r>
              <a:rPr lang="en-US" sz="3500" dirty="0">
                <a:latin typeface="+mj-lt"/>
              </a:rPr>
              <a:t>Face Recognition Accuracy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DM Sans" pitchFamily="2" charset="0"/>
              </a:rPr>
              <a:t>Masks, caps, or spectacles reduce detection success.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DM Sans" pitchFamily="2" charset="0"/>
              </a:rPr>
              <a:t>Similar-looking faces/twins may cause false positives.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DM Sans" pitchFamily="2" charset="0"/>
              </a:rPr>
              <a:t>Accuracy drops if camera is placed too far or too high.</a:t>
            </a:r>
          </a:p>
          <a:p>
            <a:endParaRPr lang="en-US" sz="3000" dirty="0"/>
          </a:p>
          <a:p>
            <a:endParaRPr lang="en-US" sz="3000" dirty="0"/>
          </a:p>
          <a:p>
            <a:endParaRPr lang="en-IN" sz="5000" dirty="0">
              <a:latin typeface="Chelsea Market" panose="020B060402020202020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3A5E4F-38D1-E3C7-4916-BC0D050738B3}"/>
              </a:ext>
            </a:extLst>
          </p:cNvPr>
          <p:cNvSpPr txBox="1"/>
          <p:nvPr/>
        </p:nvSpPr>
        <p:spPr>
          <a:xfrm>
            <a:off x="12441238" y="7424915"/>
            <a:ext cx="10986357" cy="6978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/>
              <a:t>Processing &amp; Speed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DM Sans" pitchFamily="2" charset="0"/>
              </a:rPr>
              <a:t>Husky Lens has limited processing capacity.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DM Sans" pitchFamily="2" charset="0"/>
              </a:rPr>
              <a:t>Large groups (&gt;50 students) may not meet the 2–3 min target.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DM Sans" pitchFamily="2" charset="0"/>
              </a:rPr>
              <a:t>Multiple moving students can cause delays or missed detections.</a:t>
            </a:r>
          </a:p>
          <a:p>
            <a:endParaRPr lang="en-IN" sz="3000" dirty="0"/>
          </a:p>
          <a:p>
            <a:r>
              <a:rPr lang="en-US" sz="3500" dirty="0"/>
              <a:t>Network &amp; Data Issues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DM Sans" pitchFamily="2" charset="0"/>
              </a:rPr>
              <a:t>Needs stable Wi-Fi for Google Sheets syncing.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DM Sans" pitchFamily="2" charset="0"/>
              </a:rPr>
              <a:t>Disconnection → attendance not logged.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DM Sans" pitchFamily="2" charset="0"/>
              </a:rPr>
              <a:t>Risk of latency in large classrooms.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DM Sans" pitchFamily="2" charset="0"/>
              </a:rPr>
              <a:t>Security concerns if Google Sheets integration is not secured.</a:t>
            </a:r>
          </a:p>
          <a:p>
            <a:endParaRPr lang="en-IN" sz="3000" dirty="0"/>
          </a:p>
          <a:p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06066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DF1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g35e0a9deb46_0_303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227281" y="-2459500"/>
            <a:ext cx="17947343" cy="895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35e0a9deb46_0_303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606826" y="6858000"/>
            <a:ext cx="11596549" cy="948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5e0a9deb46_0_303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4232" y="9042400"/>
            <a:ext cx="3937492" cy="39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35e0a9deb46_0_303"/>
          <p:cNvSpPr/>
          <p:nvPr/>
        </p:nvSpPr>
        <p:spPr>
          <a:xfrm>
            <a:off x="23370921" y="10515600"/>
            <a:ext cx="1016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35e0a9deb46_0_303"/>
          <p:cNvSpPr/>
          <p:nvPr/>
        </p:nvSpPr>
        <p:spPr>
          <a:xfrm>
            <a:off x="3391324" y="3263900"/>
            <a:ext cx="7875000" cy="26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35e0a9deb46_0_303"/>
          <p:cNvSpPr/>
          <p:nvPr/>
        </p:nvSpPr>
        <p:spPr>
          <a:xfrm>
            <a:off x="3397675" y="3263900"/>
            <a:ext cx="7862400" cy="20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35e0a9deb46_0_303"/>
          <p:cNvSpPr/>
          <p:nvPr/>
        </p:nvSpPr>
        <p:spPr>
          <a:xfrm>
            <a:off x="3391324" y="5334000"/>
            <a:ext cx="7875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5e0a9deb46_0_303"/>
          <p:cNvSpPr/>
          <p:nvPr/>
        </p:nvSpPr>
        <p:spPr>
          <a:xfrm>
            <a:off x="3391324" y="6985000"/>
            <a:ext cx="7875000" cy="26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g35e0a9deb46_0_303"/>
          <p:cNvSpPr/>
          <p:nvPr/>
        </p:nvSpPr>
        <p:spPr>
          <a:xfrm>
            <a:off x="3372271" y="6985000"/>
            <a:ext cx="7913100" cy="20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35e0a9deb46_0_303"/>
          <p:cNvSpPr/>
          <p:nvPr/>
        </p:nvSpPr>
        <p:spPr>
          <a:xfrm>
            <a:off x="3391324" y="9055100"/>
            <a:ext cx="7875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5e0a9deb46_0_303"/>
          <p:cNvSpPr/>
          <p:nvPr/>
        </p:nvSpPr>
        <p:spPr>
          <a:xfrm>
            <a:off x="13552594" y="3263900"/>
            <a:ext cx="7875000" cy="26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5e0a9deb46_0_303"/>
          <p:cNvSpPr/>
          <p:nvPr/>
        </p:nvSpPr>
        <p:spPr>
          <a:xfrm>
            <a:off x="16067508" y="3263900"/>
            <a:ext cx="2845200" cy="20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35e0a9deb46_0_303"/>
          <p:cNvSpPr/>
          <p:nvPr/>
        </p:nvSpPr>
        <p:spPr>
          <a:xfrm>
            <a:off x="13552594" y="5334000"/>
            <a:ext cx="7875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g35e0a9deb46_0_303"/>
          <p:cNvSpPr/>
          <p:nvPr/>
        </p:nvSpPr>
        <p:spPr>
          <a:xfrm>
            <a:off x="13552594" y="6985000"/>
            <a:ext cx="7875000" cy="26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5e0a9deb46_0_303"/>
          <p:cNvSpPr/>
          <p:nvPr/>
        </p:nvSpPr>
        <p:spPr>
          <a:xfrm>
            <a:off x="14505213" y="6985000"/>
            <a:ext cx="5969700" cy="20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35e0a9deb46_0_303"/>
          <p:cNvSpPr/>
          <p:nvPr/>
        </p:nvSpPr>
        <p:spPr>
          <a:xfrm>
            <a:off x="13552594" y="9055100"/>
            <a:ext cx="7875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0E148C-F095-99AC-A0B5-1A03BA081FE4}"/>
              </a:ext>
            </a:extLst>
          </p:cNvPr>
          <p:cNvSpPr txBox="1"/>
          <p:nvPr/>
        </p:nvSpPr>
        <p:spPr>
          <a:xfrm>
            <a:off x="2959581" y="2771771"/>
            <a:ext cx="19216207" cy="94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1.High-Resolution Camera Upgrade</a:t>
            </a:r>
          </a:p>
          <a:p>
            <a:pPr marL="342900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500" dirty="0">
                <a:latin typeface="DM Sans" pitchFamily="2" charset="0"/>
              </a:rPr>
              <a:t>Enhance recognition accuracy in large classrooms and low-light conditions.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500" dirty="0">
                <a:latin typeface="DM Sans" pitchFamily="2" charset="0"/>
              </a:rPr>
              <a:t>Capture finer facial details for improved attendance reliability.</a:t>
            </a:r>
          </a:p>
          <a:p>
            <a:pPr>
              <a:lnSpc>
                <a:spcPct val="200000"/>
              </a:lnSpc>
            </a:pPr>
            <a:r>
              <a:rPr lang="en-US" sz="4000" dirty="0"/>
              <a:t>2. AI-Powered Face Recognition</a:t>
            </a:r>
          </a:p>
          <a:p>
            <a:pPr marL="342900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500" dirty="0">
                <a:latin typeface="DM Sans" pitchFamily="2" charset="0"/>
              </a:rPr>
              <a:t>Implement advanced algorithms for faster and more efficient student detection.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500" dirty="0">
                <a:latin typeface="DM Sans" pitchFamily="2" charset="0"/>
              </a:rPr>
              <a:t>Support mask-tolerant and profile-aware recognition for real-world classroom scenarios.</a:t>
            </a:r>
          </a:p>
          <a:p>
            <a:pPr>
              <a:lnSpc>
                <a:spcPct val="200000"/>
              </a:lnSpc>
            </a:pPr>
            <a:r>
              <a:rPr lang="en-US" sz="4000" dirty="0"/>
              <a:t>3. Real-Time Dashboard &amp; Servo Control</a:t>
            </a:r>
          </a:p>
          <a:p>
            <a:pPr marL="342900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500" dirty="0">
                <a:latin typeface="DM Sans" pitchFamily="2" charset="0"/>
              </a:rPr>
              <a:t>Enable live monitoring and instant attendance reporting via LCD or web interface.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500" dirty="0">
                <a:latin typeface="DM Sans" pitchFamily="2" charset="0"/>
              </a:rPr>
              <a:t>Provide smooth servo sweep and dynamic feedback for complete classroom coverage.</a:t>
            </a:r>
          </a:p>
          <a:p>
            <a:pPr>
              <a:lnSpc>
                <a:spcPct val="200000"/>
              </a:lnSpc>
            </a:pPr>
            <a:r>
              <a:rPr lang="en-US" sz="4000" dirty="0"/>
              <a:t>4. Data Security &amp; System Integration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500" dirty="0">
                <a:latin typeface="DM Sans" pitchFamily="2" charset="0"/>
              </a:rPr>
              <a:t>Encrypt attendance records to ensure secure storage and transmission.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500" dirty="0">
                <a:latin typeface="DM Sans" pitchFamily="2" charset="0"/>
              </a:rPr>
              <a:t>Integrate seamlessly with school or university management systems and cloud backups.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52C34A-0FA4-4C61-BDEB-4B6CBD315555}"/>
              </a:ext>
            </a:extLst>
          </p:cNvPr>
          <p:cNvSpPr txBox="1"/>
          <p:nvPr/>
        </p:nvSpPr>
        <p:spPr>
          <a:xfrm>
            <a:off x="1504045" y="1305834"/>
            <a:ext cx="1071318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000" dirty="0">
                <a:solidFill>
                  <a:schemeClr val="accent1"/>
                </a:solidFill>
                <a:latin typeface="Chelsea Market" panose="020B0604020202020204" charset="0"/>
              </a:rPr>
              <a:t>Future Updates / Enhancements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4571" y="1290837"/>
            <a:ext cx="13976152" cy="886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917"/>
              </a:lnSpc>
            </a:pPr>
            <a:r>
              <a:rPr lang="en-US" sz="5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Who Benefits – Target Users &amp; Impact</a:t>
            </a:r>
            <a:endParaRPr lang="en-US" sz="5500" dirty="0"/>
          </a:p>
        </p:txBody>
      </p:sp>
      <p:sp>
        <p:nvSpPr>
          <p:cNvPr id="3" name="Shape 1"/>
          <p:cNvSpPr/>
          <p:nvPr/>
        </p:nvSpPr>
        <p:spPr>
          <a:xfrm>
            <a:off x="1324571" y="2743796"/>
            <a:ext cx="21738035" cy="1709538"/>
          </a:xfrm>
          <a:prstGeom prst="roundRect">
            <a:avLst>
              <a:gd name="adj" fmla="val 6966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62670" y="2781896"/>
            <a:ext cx="1134070" cy="1633338"/>
          </a:xfrm>
          <a:prstGeom prst="roundRect">
            <a:avLst>
              <a:gd name="adj" fmla="val 6469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IN" sz="2333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0729" y="3385939"/>
            <a:ext cx="425252" cy="4252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80109" y="3065264"/>
            <a:ext cx="3544093" cy="442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17"/>
              </a:lnSpc>
            </a:pPr>
            <a:r>
              <a:rPr lang="en-US" sz="3333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Students</a:t>
            </a:r>
            <a:endParaRPr lang="en-US" sz="3333" dirty="0"/>
          </a:p>
        </p:txBody>
      </p:sp>
      <p:sp>
        <p:nvSpPr>
          <p:cNvPr id="7" name="Text 4"/>
          <p:cNvSpPr/>
          <p:nvPr/>
        </p:nvSpPr>
        <p:spPr>
          <a:xfrm>
            <a:off x="2780109" y="3678239"/>
            <a:ext cx="19961027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667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Quick, hygienic entry without queues or physical cards. Natural flow into classrooms without disruption</a:t>
            </a:r>
            <a:r>
              <a:rPr lang="en-US" sz="2167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167" dirty="0"/>
          </a:p>
        </p:txBody>
      </p:sp>
      <p:sp>
        <p:nvSpPr>
          <p:cNvPr id="8" name="Shape 5"/>
          <p:cNvSpPr/>
          <p:nvPr/>
        </p:nvSpPr>
        <p:spPr>
          <a:xfrm>
            <a:off x="1324571" y="4736704"/>
            <a:ext cx="21738035" cy="1709538"/>
          </a:xfrm>
          <a:prstGeom prst="roundRect">
            <a:avLst>
              <a:gd name="adj" fmla="val 6966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62670" y="4774804"/>
            <a:ext cx="1134070" cy="1633338"/>
          </a:xfrm>
          <a:prstGeom prst="roundRect">
            <a:avLst>
              <a:gd name="adj" fmla="val 6469"/>
            </a:avLst>
          </a:prstGeom>
          <a:solidFill>
            <a:srgbClr val="F7EDD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0729" y="5378847"/>
            <a:ext cx="425252" cy="4252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80109" y="5058172"/>
            <a:ext cx="3544093" cy="442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17"/>
              </a:lnSpc>
            </a:pPr>
            <a:r>
              <a:rPr lang="en-US" sz="3333" dirty="0">
                <a:solidFill>
                  <a:srgbClr val="454240"/>
                </a:solidFill>
                <a:latin typeface="Libre Baskerville" pitchFamily="34" charset="0"/>
              </a:rPr>
              <a:t>Teachers</a:t>
            </a:r>
          </a:p>
        </p:txBody>
      </p:sp>
      <p:sp>
        <p:nvSpPr>
          <p:cNvPr id="12" name="Text 8"/>
          <p:cNvSpPr/>
          <p:nvPr/>
        </p:nvSpPr>
        <p:spPr>
          <a:xfrm>
            <a:off x="2780109" y="5671146"/>
            <a:ext cx="19961027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667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Reclaim valuable teaching minutes. Focus on instruction instead of roll calls and paperwork.</a:t>
            </a:r>
            <a:endParaRPr lang="en-US" sz="2667" dirty="0"/>
          </a:p>
        </p:txBody>
      </p:sp>
      <p:sp>
        <p:nvSpPr>
          <p:cNvPr id="13" name="Shape 9"/>
          <p:cNvSpPr/>
          <p:nvPr/>
        </p:nvSpPr>
        <p:spPr>
          <a:xfrm>
            <a:off x="1324571" y="6729613"/>
            <a:ext cx="21738035" cy="1709538"/>
          </a:xfrm>
          <a:prstGeom prst="roundRect">
            <a:avLst>
              <a:gd name="adj" fmla="val 6966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362670" y="6767713"/>
            <a:ext cx="1134070" cy="1633338"/>
          </a:xfrm>
          <a:prstGeom prst="roundRect">
            <a:avLst>
              <a:gd name="adj" fmla="val 6469"/>
            </a:avLst>
          </a:prstGeom>
          <a:solidFill>
            <a:srgbClr val="F7EDD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0729" y="7371756"/>
            <a:ext cx="425252" cy="4252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80109" y="7051081"/>
            <a:ext cx="3544093" cy="442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17"/>
              </a:lnSpc>
            </a:pPr>
            <a:r>
              <a:rPr lang="en-US" sz="3333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Institutions</a:t>
            </a:r>
            <a:endParaRPr lang="en-US" sz="2333" dirty="0"/>
          </a:p>
        </p:txBody>
      </p:sp>
      <p:sp>
        <p:nvSpPr>
          <p:cNvPr id="17" name="Text 12"/>
          <p:cNvSpPr/>
          <p:nvPr/>
        </p:nvSpPr>
        <p:spPr>
          <a:xfrm>
            <a:off x="2780109" y="7664054"/>
            <a:ext cx="19961027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667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 accurate attendance analytics, compliance reports, and real-time monitoring </a:t>
            </a:r>
            <a:r>
              <a:rPr lang="en-US" sz="2167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167" dirty="0"/>
          </a:p>
        </p:txBody>
      </p:sp>
      <p:sp>
        <p:nvSpPr>
          <p:cNvPr id="18" name="Shape 13"/>
          <p:cNvSpPr/>
          <p:nvPr/>
        </p:nvSpPr>
        <p:spPr>
          <a:xfrm>
            <a:off x="1324571" y="8722519"/>
            <a:ext cx="21738035" cy="1709538"/>
          </a:xfrm>
          <a:prstGeom prst="roundRect">
            <a:avLst>
              <a:gd name="adj" fmla="val 6966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362670" y="8760619"/>
            <a:ext cx="1134070" cy="1633338"/>
          </a:xfrm>
          <a:prstGeom prst="roundRect">
            <a:avLst>
              <a:gd name="adj" fmla="val 6469"/>
            </a:avLst>
          </a:prstGeom>
          <a:solidFill>
            <a:srgbClr val="F7EDD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0729" y="9364664"/>
            <a:ext cx="425252" cy="4252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780109" y="9043989"/>
            <a:ext cx="3544093" cy="442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17"/>
              </a:lnSpc>
            </a:pPr>
            <a:r>
              <a:rPr lang="en-US" sz="3333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Parents</a:t>
            </a:r>
            <a:endParaRPr lang="en-US" sz="3333" dirty="0"/>
          </a:p>
        </p:txBody>
      </p:sp>
      <p:sp>
        <p:nvSpPr>
          <p:cNvPr id="22" name="Text 16"/>
          <p:cNvSpPr/>
          <p:nvPr/>
        </p:nvSpPr>
        <p:spPr>
          <a:xfrm>
            <a:off x="2780109" y="9656963"/>
            <a:ext cx="19961027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667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 real-time attendance alerts and gain visibility into their child's presence at school</a:t>
            </a:r>
            <a:r>
              <a:rPr lang="en-US" sz="2167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167" dirty="0"/>
          </a:p>
        </p:txBody>
      </p:sp>
      <p:sp>
        <p:nvSpPr>
          <p:cNvPr id="23" name="Shape 17"/>
          <p:cNvSpPr/>
          <p:nvPr/>
        </p:nvSpPr>
        <p:spPr>
          <a:xfrm>
            <a:off x="1324571" y="10715428"/>
            <a:ext cx="21738035" cy="1709538"/>
          </a:xfrm>
          <a:prstGeom prst="roundRect">
            <a:avLst>
              <a:gd name="adj" fmla="val 6966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362670" y="10753528"/>
            <a:ext cx="1134070" cy="1633338"/>
          </a:xfrm>
          <a:prstGeom prst="roundRect">
            <a:avLst>
              <a:gd name="adj" fmla="val 6469"/>
            </a:avLst>
          </a:prstGeom>
          <a:solidFill>
            <a:srgbClr val="F7EDD4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10729" y="11357571"/>
            <a:ext cx="425252" cy="42525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780110" y="11036896"/>
            <a:ext cx="4097338" cy="442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17"/>
              </a:lnSpc>
            </a:pPr>
            <a:r>
              <a:rPr lang="en-US" sz="3333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Government &amp; Boards</a:t>
            </a:r>
            <a:endParaRPr lang="en-US" sz="3333" dirty="0"/>
          </a:p>
        </p:txBody>
      </p:sp>
      <p:sp>
        <p:nvSpPr>
          <p:cNvPr id="27" name="Text 20"/>
          <p:cNvSpPr/>
          <p:nvPr/>
        </p:nvSpPr>
        <p:spPr>
          <a:xfrm>
            <a:off x="2780109" y="11649869"/>
            <a:ext cx="19961027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667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 standardized attendance tracking across institutions for policy-making and resource allocation.</a:t>
            </a:r>
            <a:endParaRPr lang="en-US" sz="266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2736" y="983061"/>
            <a:ext cx="7562453" cy="726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67"/>
              </a:lnSpc>
            </a:pPr>
            <a:r>
              <a:rPr lang="en-US" sz="45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Innovation &amp; Uniqueness</a:t>
            </a:r>
            <a:endParaRPr lang="en-US" sz="4500" dirty="0">
              <a:solidFill>
                <a:schemeClr val="bg1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739" y="2285505"/>
            <a:ext cx="3414117" cy="34141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68966" y="6096198"/>
            <a:ext cx="4591663" cy="36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33"/>
              </a:lnSpc>
            </a:pPr>
            <a:r>
              <a:rPr lang="en-US" sz="2667" b="1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 Complex </a:t>
            </a:r>
            <a:r>
              <a:rPr lang="en-US" sz="2333" b="1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Training</a:t>
            </a:r>
            <a:endParaRPr lang="en-US" sz="2667" b="1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3728760" y="6598643"/>
            <a:ext cx="7427357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917"/>
              </a:lnSpc>
            </a:pPr>
            <a:r>
              <a:rPr lang="en-US" sz="2667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Pre-trained HuskyLens AI eliminates lengthy model training, enabling instant deployment.</a:t>
            </a:r>
            <a:endParaRPr lang="en-US" sz="2667" dirty="0">
              <a:solidFill>
                <a:schemeClr val="bg1"/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2970" y="2239933"/>
            <a:ext cx="3414117" cy="341411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917466" y="5990117"/>
            <a:ext cx="4628982" cy="36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33"/>
              </a:lnSpc>
            </a:pPr>
            <a:r>
              <a:rPr lang="en-US" sz="2667" b="1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Anti-Proxy Protection</a:t>
            </a:r>
            <a:endParaRPr lang="en-US" sz="2667" b="1" dirty="0">
              <a:solidFill>
                <a:schemeClr val="bg1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13733697" y="6502243"/>
            <a:ext cx="7427357" cy="111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917"/>
              </a:lnSpc>
            </a:pPr>
            <a:r>
              <a:rPr lang="en-US" sz="2667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Fraudulent attendance attempts made by students can be eliminated</a:t>
            </a:r>
            <a:endParaRPr lang="en-US" sz="2667" dirty="0">
              <a:solidFill>
                <a:schemeClr val="bg1"/>
              </a:solidFill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24798" y="7980833"/>
            <a:ext cx="3414315" cy="34143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012269" y="11675349"/>
            <a:ext cx="2358572" cy="743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33"/>
              </a:lnSpc>
            </a:pPr>
            <a:r>
              <a:rPr lang="en-US" sz="3333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Zero Contact</a:t>
            </a:r>
            <a:endParaRPr lang="en-US" sz="3333" dirty="0">
              <a:solidFill>
                <a:schemeClr val="bg1"/>
              </a:solidFill>
            </a:endParaRPr>
          </a:p>
        </p:txBody>
      </p:sp>
      <p:sp>
        <p:nvSpPr>
          <p:cNvPr id="14" name="Text 8"/>
          <p:cNvSpPr/>
          <p:nvPr/>
        </p:nvSpPr>
        <p:spPr>
          <a:xfrm>
            <a:off x="13733697" y="12051705"/>
            <a:ext cx="8045340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17"/>
              </a:lnSpc>
            </a:pPr>
            <a:r>
              <a:rPr lang="en-US" sz="2667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Completely touchless operation maintains hygiene standards in high-density environments.</a:t>
            </a:r>
            <a:endParaRPr lang="en-US" sz="2667" dirty="0">
              <a:solidFill>
                <a:schemeClr val="bg1"/>
              </a:solidFill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6852" y="7719142"/>
            <a:ext cx="3414117" cy="341411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6852" y="11563932"/>
            <a:ext cx="3801467" cy="36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33"/>
              </a:lnSpc>
            </a:pPr>
            <a:r>
              <a:rPr lang="en-US" sz="2667" b="1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Offline-First Architecture</a:t>
            </a:r>
            <a:endParaRPr lang="en-US" sz="2667" b="1" dirty="0">
              <a:solidFill>
                <a:schemeClr val="bg1"/>
              </a:solidFill>
            </a:endParaRPr>
          </a:p>
        </p:txBody>
      </p:sp>
      <p:sp>
        <p:nvSpPr>
          <p:cNvPr id="17" name="Text 10"/>
          <p:cNvSpPr/>
          <p:nvPr/>
        </p:nvSpPr>
        <p:spPr>
          <a:xfrm>
            <a:off x="3062581" y="12032723"/>
            <a:ext cx="7859722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17"/>
              </a:lnSpc>
            </a:pPr>
            <a:r>
              <a:rPr lang="en-US" sz="2667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 storage with intelligent cloud sync ensures data integrity under any network condition.</a:t>
            </a:r>
            <a:endParaRPr lang="en-US" sz="2667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42599" y="1274168"/>
            <a:ext cx="7247533" cy="82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500"/>
              </a:lnSpc>
            </a:pPr>
            <a:r>
              <a:rPr lang="en-US" sz="5167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Feasibility &amp; Viability</a:t>
            </a:r>
            <a:endParaRPr lang="en-US" sz="5167" dirty="0">
              <a:solidFill>
                <a:schemeClr val="bg1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10290572" y="2795589"/>
            <a:ext cx="595313" cy="595313"/>
          </a:xfrm>
          <a:prstGeom prst="roundRect">
            <a:avLst>
              <a:gd name="adj" fmla="val 1867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777935" y="2886473"/>
            <a:ext cx="4165600" cy="413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50"/>
              </a:lnSpc>
            </a:pPr>
            <a:r>
              <a:rPr lang="en-US" sz="2333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Cost-Effective Hardware</a:t>
            </a:r>
            <a:endParaRPr lang="en-US" sz="2333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11777936" y="3564336"/>
            <a:ext cx="11924705" cy="846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667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 system under ₹8000 per classroom makes it accessible for budget-conscious institutions.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10290572" y="4940499"/>
            <a:ext cx="595313" cy="595313"/>
          </a:xfrm>
          <a:prstGeom prst="roundRect">
            <a:avLst>
              <a:gd name="adj" fmla="val 1867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777936" y="5031384"/>
            <a:ext cx="3989785" cy="413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50"/>
              </a:lnSpc>
            </a:pPr>
            <a:r>
              <a:rPr lang="en-US" sz="2333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Infrastructure</a:t>
            </a:r>
            <a:endParaRPr lang="en-US" sz="2333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1777936" y="5709246"/>
            <a:ext cx="11924705" cy="846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667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Operates on existing classroom WiFi networks with no specialized requirements or upgrades needed.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10290572" y="7085410"/>
            <a:ext cx="595313" cy="595313"/>
          </a:xfrm>
          <a:prstGeom prst="roundRect">
            <a:avLst>
              <a:gd name="adj" fmla="val 1867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77936" y="7176294"/>
            <a:ext cx="3307755" cy="413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50"/>
              </a:lnSpc>
            </a:pPr>
            <a:r>
              <a:rPr lang="en-US" sz="2333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Simple Installation</a:t>
            </a:r>
            <a:endParaRPr lang="en-US" sz="2333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11777936" y="7782438"/>
            <a:ext cx="11924705" cy="423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667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Plug-and-play setup completed in under 30 minutes with minimal </a:t>
            </a:r>
          </a:p>
          <a:p>
            <a:pPr>
              <a:lnSpc>
                <a:spcPts val="3333"/>
              </a:lnSpc>
            </a:pPr>
            <a:r>
              <a:rPr lang="en-US" sz="2667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technical expertise required.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0290572" y="8806855"/>
            <a:ext cx="595313" cy="595313"/>
          </a:xfrm>
          <a:prstGeom prst="roundRect">
            <a:avLst>
              <a:gd name="adj" fmla="val 18670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77936" y="8897739"/>
            <a:ext cx="3307755" cy="413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50"/>
              </a:lnSpc>
            </a:pPr>
            <a:r>
              <a:rPr lang="en-US" sz="2333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Offline Reliability</a:t>
            </a:r>
            <a:endParaRPr lang="en-US" sz="2333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777936" y="9485953"/>
            <a:ext cx="11924705" cy="423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33"/>
              </a:lnSpc>
            </a:pPr>
            <a:r>
              <a:rPr lang="en-US" sz="2667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Functions independently during network outages, ensuring uninterrupted </a:t>
            </a:r>
          </a:p>
          <a:p>
            <a:pPr>
              <a:lnSpc>
                <a:spcPts val="3333"/>
              </a:lnSpc>
            </a:pPr>
            <a:r>
              <a:rPr lang="en-US" sz="2667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attendance tracking.</a:t>
            </a:r>
            <a:endParaRPr lang="en-US" sz="2667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7F0CE2-4413-2541-7A1C-5510F45B616C}"/>
              </a:ext>
            </a:extLst>
          </p:cNvPr>
          <p:cNvSpPr txBox="1"/>
          <p:nvPr/>
        </p:nvSpPr>
        <p:spPr>
          <a:xfrm>
            <a:off x="270528" y="1274168"/>
            <a:ext cx="9520518" cy="1252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17"/>
              </a:lnSpc>
            </a:pPr>
            <a:r>
              <a:rPr lang="en-US" sz="5167" dirty="0">
                <a:solidFill>
                  <a:schemeClr val="bg1"/>
                </a:solidFill>
                <a:latin typeface="Libre Baskerville" pitchFamily="34" charset="0"/>
              </a:rPr>
              <a:t>Impact &amp; Long-Term Vision</a:t>
            </a: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35D32C1D-C35D-2D0C-D4FE-E3C014C088EA}"/>
              </a:ext>
            </a:extLst>
          </p:cNvPr>
          <p:cNvSpPr/>
          <p:nvPr/>
        </p:nvSpPr>
        <p:spPr>
          <a:xfrm>
            <a:off x="3172712" y="3093144"/>
            <a:ext cx="2736057" cy="3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67"/>
              </a:lnSpc>
            </a:pPr>
            <a:r>
              <a:rPr lang="en-US" sz="3333" b="1" dirty="0">
                <a:solidFill>
                  <a:schemeClr val="bg1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Immediate Impact</a:t>
            </a:r>
            <a:endParaRPr lang="en-US" sz="3333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D72D47F9-C803-3603-4D9F-DE83651403C4}"/>
              </a:ext>
            </a:extLst>
          </p:cNvPr>
          <p:cNvSpPr/>
          <p:nvPr/>
        </p:nvSpPr>
        <p:spPr>
          <a:xfrm>
            <a:off x="913606" y="3163995"/>
            <a:ext cx="11057533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11" indent="-571511">
              <a:lnSpc>
                <a:spcPct val="200000"/>
              </a:lnSpc>
              <a:buSzPct val="100000"/>
              <a:buChar char="•"/>
            </a:pPr>
            <a:r>
              <a:rPr lang="en-US" sz="23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 5-10 </a:t>
            </a:r>
            <a:r>
              <a:rPr lang="en-US" sz="33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minutes</a:t>
            </a:r>
            <a:r>
              <a:rPr lang="en-US" sz="23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 class session daily</a:t>
            </a: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E89FA7E8-0FE9-6E79-0927-55AF1C503FF4}"/>
              </a:ext>
            </a:extLst>
          </p:cNvPr>
          <p:cNvSpPr/>
          <p:nvPr/>
        </p:nvSpPr>
        <p:spPr>
          <a:xfrm>
            <a:off x="913606" y="3411239"/>
            <a:ext cx="11057533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11" indent="-571511">
              <a:lnSpc>
                <a:spcPct val="250000"/>
              </a:lnSpc>
              <a:buSzPct val="100000"/>
              <a:buChar char="•"/>
            </a:pPr>
            <a:r>
              <a:rPr lang="en-US" sz="3333" dirty="0">
                <a:solidFill>
                  <a:schemeClr val="bg1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Eliminate proxy attendance entirely</a:t>
            </a:r>
            <a:endParaRPr lang="en-US" sz="33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FCCC71EA-2D23-D177-F48C-F3B0ACAF3EBA}"/>
              </a:ext>
            </a:extLst>
          </p:cNvPr>
          <p:cNvSpPr/>
          <p:nvPr/>
        </p:nvSpPr>
        <p:spPr>
          <a:xfrm>
            <a:off x="913606" y="3802109"/>
            <a:ext cx="11057533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11" indent="-571511">
              <a:lnSpc>
                <a:spcPct val="250000"/>
              </a:lnSpc>
              <a:buSzPct val="100000"/>
              <a:buChar char="•"/>
            </a:pPr>
            <a:r>
              <a:rPr lang="en-US" sz="3333" dirty="0">
                <a:solidFill>
                  <a:schemeClr val="bg1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Reduce attendance errors by 95%</a:t>
            </a:r>
            <a:endParaRPr lang="en-US" sz="33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F1CC2225-166C-2C5E-70E3-AC2397C52CC8}"/>
              </a:ext>
            </a:extLst>
          </p:cNvPr>
          <p:cNvSpPr/>
          <p:nvPr/>
        </p:nvSpPr>
        <p:spPr>
          <a:xfrm>
            <a:off x="913606" y="4211729"/>
            <a:ext cx="11057533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11" indent="-571511">
              <a:lnSpc>
                <a:spcPct val="250000"/>
              </a:lnSpc>
              <a:buSzPct val="100000"/>
              <a:buChar char="•"/>
            </a:pPr>
            <a:r>
              <a:rPr lang="en-US" sz="3333" dirty="0">
                <a:solidFill>
                  <a:schemeClr val="bg1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Enhance institutional credibility</a:t>
            </a:r>
            <a:endParaRPr lang="en-US" sz="33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8BCF2D80-0A73-2220-521F-6D3E9C957DA4}"/>
              </a:ext>
            </a:extLst>
          </p:cNvPr>
          <p:cNvSpPr/>
          <p:nvPr/>
        </p:nvSpPr>
        <p:spPr>
          <a:xfrm>
            <a:off x="913606" y="4586135"/>
            <a:ext cx="11057533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11" indent="-571511">
              <a:lnSpc>
                <a:spcPct val="250000"/>
              </a:lnSpc>
              <a:buSzPct val="100000"/>
              <a:buChar char="•"/>
            </a:pPr>
            <a:r>
              <a:rPr lang="en-US" sz="3333" dirty="0">
                <a:solidFill>
                  <a:schemeClr val="bg1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Improve data accuracy for compliance</a:t>
            </a:r>
            <a:endParaRPr lang="en-US" sz="33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2F9F2813-EFF7-5BC5-265A-E8A8B88EF179}"/>
              </a:ext>
            </a:extLst>
          </p:cNvPr>
          <p:cNvSpPr/>
          <p:nvPr/>
        </p:nvSpPr>
        <p:spPr>
          <a:xfrm>
            <a:off x="3016051" y="6351293"/>
            <a:ext cx="2462412" cy="681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67"/>
              </a:lnSpc>
            </a:pPr>
            <a:r>
              <a:rPr lang="en-US" sz="3333" b="1" dirty="0">
                <a:solidFill>
                  <a:schemeClr val="bg1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Long-Term Vision</a:t>
            </a:r>
            <a:endParaRPr lang="en-US" sz="3333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97B4AB66-CA2C-2322-8F30-9A69123AECA7}"/>
              </a:ext>
            </a:extLst>
          </p:cNvPr>
          <p:cNvSpPr/>
          <p:nvPr/>
        </p:nvSpPr>
        <p:spPr>
          <a:xfrm>
            <a:off x="1149761" y="7180288"/>
            <a:ext cx="2451695" cy="494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76260" indent="-476260">
              <a:lnSpc>
                <a:spcPts val="2167"/>
              </a:lnSpc>
              <a:buFont typeface="Arial" panose="020B0604020202020204" pitchFamily="34" charset="0"/>
              <a:buChar char="•"/>
            </a:pPr>
            <a:r>
              <a:rPr lang="en-US" sz="3333" dirty="0">
                <a:solidFill>
                  <a:schemeClr val="bg1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Smart Campus Gates</a:t>
            </a:r>
            <a:endParaRPr lang="en-US" sz="33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71F02DE-2865-2C7D-3EF5-EC0F136C1705}"/>
              </a:ext>
            </a:extLst>
          </p:cNvPr>
          <p:cNvSpPr/>
          <p:nvPr/>
        </p:nvSpPr>
        <p:spPr>
          <a:xfrm>
            <a:off x="1143154" y="7685758"/>
            <a:ext cx="10915253" cy="729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76260" indent="-476260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US" sz="3333" dirty="0">
                <a:solidFill>
                  <a:schemeClr val="bg1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Automated entry/exit tracking across entire </a:t>
            </a:r>
          </a:p>
          <a:p>
            <a:pPr>
              <a:lnSpc>
                <a:spcPts val="2250"/>
              </a:lnSpc>
            </a:pPr>
            <a:r>
              <a:rPr lang="en-US" sz="3333" dirty="0">
                <a:solidFill>
                  <a:schemeClr val="bg1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    campus infrastructure</a:t>
            </a:r>
            <a:endParaRPr lang="en-US" sz="33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D6500A80-3824-7226-0A7A-3B59895F0315}"/>
              </a:ext>
            </a:extLst>
          </p:cNvPr>
          <p:cNvSpPr/>
          <p:nvPr/>
        </p:nvSpPr>
        <p:spPr>
          <a:xfrm>
            <a:off x="1149760" y="8506694"/>
            <a:ext cx="2280047" cy="461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76260" indent="-476260">
              <a:lnSpc>
                <a:spcPts val="2167"/>
              </a:lnSpc>
              <a:buFont typeface="Arial" panose="020B0604020202020204" pitchFamily="34" charset="0"/>
              <a:buChar char="•"/>
            </a:pPr>
            <a:r>
              <a:rPr lang="en-US" sz="3333" dirty="0">
                <a:solidFill>
                  <a:schemeClr val="bg1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Mobile Integration</a:t>
            </a:r>
            <a:endParaRPr lang="en-US" sz="33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5748DBEA-D885-7EA9-E406-F1D979AD2C87}"/>
              </a:ext>
            </a:extLst>
          </p:cNvPr>
          <p:cNvSpPr/>
          <p:nvPr/>
        </p:nvSpPr>
        <p:spPr>
          <a:xfrm>
            <a:off x="1143154" y="9124984"/>
            <a:ext cx="10915253" cy="53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76260" indent="-476260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US" sz="3333" dirty="0">
                <a:solidFill>
                  <a:schemeClr val="bg1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Dedicated apps for parents, teachers, and </a:t>
            </a:r>
          </a:p>
          <a:p>
            <a:pPr>
              <a:lnSpc>
                <a:spcPts val="2250"/>
              </a:lnSpc>
            </a:pPr>
            <a:r>
              <a:rPr lang="en-US" sz="3333" dirty="0">
                <a:solidFill>
                  <a:schemeClr val="bg1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     administrators</a:t>
            </a:r>
            <a:endParaRPr lang="en-US" sz="33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4571" y="1133475"/>
            <a:ext cx="8980288" cy="94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7417"/>
              </a:lnSpc>
            </a:pPr>
            <a:r>
              <a:rPr lang="en-US" sz="5917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Go-To-Market Strategy</a:t>
            </a:r>
            <a:endParaRPr lang="en-US" sz="5917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324571" y="2683272"/>
            <a:ext cx="21738035" cy="967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750"/>
              </a:lnSpc>
            </a:pPr>
            <a:r>
              <a:rPr lang="en-US" sz="23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strategic approach to market entry focuses on progressive deployment across educational and corporate sectors, beginning with targeted pilot programmes and scaling through strategic partnerships.</a:t>
            </a:r>
            <a:endParaRPr lang="en-US" sz="2333" dirty="0">
              <a:solidFill>
                <a:schemeClr val="bg1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4571" y="4028679"/>
            <a:ext cx="302418" cy="30241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24571" y="4466828"/>
            <a:ext cx="10717808" cy="3810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6" name="Text 3"/>
          <p:cNvSpPr/>
          <p:nvPr/>
        </p:nvSpPr>
        <p:spPr>
          <a:xfrm>
            <a:off x="1324571" y="4694238"/>
            <a:ext cx="378043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917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 Institutions</a:t>
            </a:r>
            <a:endParaRPr lang="en-US" sz="2917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324571" y="5348089"/>
            <a:ext cx="10717808" cy="967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750"/>
              </a:lnSpc>
            </a:pPr>
            <a:r>
              <a:rPr lang="en-US" sz="23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Schools, colleges, corporate training centres, and government educational institutions across India seeking automated attendance solutions.</a:t>
            </a:r>
            <a:endParaRPr lang="en-US" sz="2333" dirty="0">
              <a:solidFill>
                <a:schemeClr val="bg1"/>
              </a:solidFill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44798" y="4028679"/>
            <a:ext cx="302418" cy="30241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2344798" y="4466828"/>
            <a:ext cx="10717808" cy="3810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0" name="Text 6"/>
          <p:cNvSpPr/>
          <p:nvPr/>
        </p:nvSpPr>
        <p:spPr>
          <a:xfrm>
            <a:off x="12344798" y="4694238"/>
            <a:ext cx="5227042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917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1: Pilot Deployments</a:t>
            </a:r>
            <a:endParaRPr lang="en-US" sz="2917" dirty="0">
              <a:solidFill>
                <a:schemeClr val="bg1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12344798" y="5348089"/>
            <a:ext cx="10717808" cy="967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750"/>
              </a:lnSpc>
            </a:pPr>
            <a:r>
              <a:rPr lang="en-US" sz="23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Launch controlled pilot programmes in 2–5 select institutions to validate technology, gather feedback, and demonstrate real-world effectiveness.</a:t>
            </a:r>
            <a:endParaRPr lang="en-US" sz="2333" dirty="0">
              <a:solidFill>
                <a:schemeClr val="bg1"/>
              </a:solidFill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24571" y="6882608"/>
            <a:ext cx="302418" cy="30241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324571" y="7320757"/>
            <a:ext cx="10717808" cy="3810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4" name="Text 9"/>
          <p:cNvSpPr/>
          <p:nvPr/>
        </p:nvSpPr>
        <p:spPr>
          <a:xfrm>
            <a:off x="1324570" y="7548165"/>
            <a:ext cx="590669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917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2: Strategic Partnerships B2G</a:t>
            </a:r>
            <a:endParaRPr lang="en-US" sz="2917" dirty="0">
              <a:solidFill>
                <a:schemeClr val="bg1"/>
              </a:solidFill>
            </a:endParaRPr>
          </a:p>
        </p:txBody>
      </p:sp>
      <p:sp>
        <p:nvSpPr>
          <p:cNvPr id="15" name="Text 10"/>
          <p:cNvSpPr/>
          <p:nvPr/>
        </p:nvSpPr>
        <p:spPr>
          <a:xfrm>
            <a:off x="1324571" y="8202017"/>
            <a:ext cx="10717808" cy="967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750"/>
              </a:lnSpc>
            </a:pPr>
            <a:r>
              <a:rPr lang="en-US" sz="23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Establish ERP system integrations and initiate state-level onboarding programmes with education departments for wider adoption.</a:t>
            </a:r>
            <a:endParaRPr lang="en-US" sz="2333" dirty="0">
              <a:solidFill>
                <a:schemeClr val="bg1"/>
              </a:solidFill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44798" y="6882608"/>
            <a:ext cx="302418" cy="30241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2344798" y="7320757"/>
            <a:ext cx="10717808" cy="3810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8" name="Text 12"/>
          <p:cNvSpPr/>
          <p:nvPr/>
        </p:nvSpPr>
        <p:spPr>
          <a:xfrm>
            <a:off x="12344798" y="7548165"/>
            <a:ext cx="5007372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917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Phase 3: Nationwide Scale</a:t>
            </a:r>
            <a:endParaRPr lang="en-US" sz="2917" dirty="0">
              <a:solidFill>
                <a:schemeClr val="bg1"/>
              </a:solidFill>
            </a:endParaRPr>
          </a:p>
        </p:txBody>
      </p:sp>
      <p:sp>
        <p:nvSpPr>
          <p:cNvPr id="19" name="Text 13"/>
          <p:cNvSpPr/>
          <p:nvPr/>
        </p:nvSpPr>
        <p:spPr>
          <a:xfrm>
            <a:off x="12344798" y="8202017"/>
            <a:ext cx="10717808" cy="967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750"/>
              </a:lnSpc>
            </a:pPr>
            <a:r>
              <a:rPr lang="en-US" sz="23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 across India through established EdTech partnerships, leveraging distribution networks and support infrastructure for rapid expansion.</a:t>
            </a:r>
            <a:endParaRPr lang="en-US" sz="2333" dirty="0">
              <a:solidFill>
                <a:schemeClr val="bg1"/>
              </a:solidFill>
            </a:endParaRPr>
          </a:p>
        </p:txBody>
      </p:sp>
      <p:sp>
        <p:nvSpPr>
          <p:cNvPr id="20" name="Text 14"/>
          <p:cNvSpPr/>
          <p:nvPr/>
        </p:nvSpPr>
        <p:spPr>
          <a:xfrm>
            <a:off x="1324571" y="10038953"/>
            <a:ext cx="378043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917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Pricing Structure</a:t>
            </a:r>
            <a:endParaRPr lang="en-US" sz="2917" dirty="0">
              <a:solidFill>
                <a:schemeClr val="bg1"/>
              </a:solidFill>
            </a:endParaRPr>
          </a:p>
        </p:txBody>
      </p:sp>
      <p:sp>
        <p:nvSpPr>
          <p:cNvPr id="21" name="Text 15"/>
          <p:cNvSpPr/>
          <p:nvPr/>
        </p:nvSpPr>
        <p:spPr>
          <a:xfrm>
            <a:off x="1324571" y="10813852"/>
            <a:ext cx="10500122" cy="4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11" indent="-571511">
              <a:lnSpc>
                <a:spcPts val="3750"/>
              </a:lnSpc>
              <a:buSzPct val="100000"/>
              <a:buChar char="•"/>
            </a:pPr>
            <a:r>
              <a:rPr lang="en-US" sz="23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Hardware unit: around ₹8,000</a:t>
            </a:r>
            <a:endParaRPr lang="en-US" sz="2333" dirty="0">
              <a:solidFill>
                <a:schemeClr val="bg1"/>
              </a:solidFill>
            </a:endParaRPr>
          </a:p>
        </p:txBody>
      </p:sp>
      <p:sp>
        <p:nvSpPr>
          <p:cNvPr id="22" name="Text 16"/>
          <p:cNvSpPr/>
          <p:nvPr/>
        </p:nvSpPr>
        <p:spPr>
          <a:xfrm>
            <a:off x="1324571" y="11403410"/>
            <a:ext cx="10500122" cy="4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11" indent="-571511">
              <a:lnSpc>
                <a:spcPts val="3750"/>
              </a:lnSpc>
              <a:buSzPct val="100000"/>
              <a:buChar char="•"/>
            </a:pPr>
            <a:r>
              <a:rPr lang="en-US" sz="23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Optional cloud subscription for advanced analytics</a:t>
            </a:r>
            <a:endParaRPr lang="en-US" sz="2333" dirty="0">
              <a:solidFill>
                <a:schemeClr val="bg1"/>
              </a:solidFill>
            </a:endParaRPr>
          </a:p>
        </p:txBody>
      </p:sp>
      <p:sp>
        <p:nvSpPr>
          <p:cNvPr id="23" name="Text 17"/>
          <p:cNvSpPr/>
          <p:nvPr/>
        </p:nvSpPr>
        <p:spPr>
          <a:xfrm>
            <a:off x="1324571" y="11992967"/>
            <a:ext cx="10500122" cy="4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11" indent="-571511">
              <a:lnSpc>
                <a:spcPts val="3750"/>
              </a:lnSpc>
              <a:buSzPct val="100000"/>
              <a:buChar char="•"/>
            </a:pPr>
            <a:r>
              <a:rPr lang="en-US" sz="23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Flexible payment models for institutions</a:t>
            </a:r>
            <a:endParaRPr lang="en-US" sz="2333" dirty="0">
              <a:solidFill>
                <a:schemeClr val="bg1"/>
              </a:solidFill>
            </a:endParaRPr>
          </a:p>
        </p:txBody>
      </p:sp>
      <p:sp>
        <p:nvSpPr>
          <p:cNvPr id="24" name="Text 18"/>
          <p:cNvSpPr/>
          <p:nvPr/>
        </p:nvSpPr>
        <p:spPr>
          <a:xfrm>
            <a:off x="12575182" y="10038953"/>
            <a:ext cx="431681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67"/>
              </a:lnSpc>
            </a:pPr>
            <a:r>
              <a:rPr lang="en-US" sz="2917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Promotional Activities</a:t>
            </a:r>
            <a:endParaRPr lang="en-US" sz="2917" dirty="0">
              <a:solidFill>
                <a:schemeClr val="bg1"/>
              </a:solidFill>
            </a:endParaRPr>
          </a:p>
        </p:txBody>
      </p:sp>
      <p:sp>
        <p:nvSpPr>
          <p:cNvPr id="25" name="Text 19"/>
          <p:cNvSpPr/>
          <p:nvPr/>
        </p:nvSpPr>
        <p:spPr>
          <a:xfrm>
            <a:off x="12575183" y="10813852"/>
            <a:ext cx="10500122" cy="4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11" indent="-571511">
              <a:lnSpc>
                <a:spcPts val="3750"/>
              </a:lnSpc>
              <a:buSzPct val="100000"/>
              <a:buChar char="•"/>
            </a:pPr>
            <a:r>
              <a:rPr lang="en-US" sz="23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product demonstrations at education exhibitions</a:t>
            </a:r>
            <a:endParaRPr lang="en-US" sz="2333" dirty="0">
              <a:solidFill>
                <a:schemeClr val="bg1"/>
              </a:solidFill>
            </a:endParaRPr>
          </a:p>
        </p:txBody>
      </p:sp>
      <p:sp>
        <p:nvSpPr>
          <p:cNvPr id="26" name="Text 20"/>
          <p:cNvSpPr/>
          <p:nvPr/>
        </p:nvSpPr>
        <p:spPr>
          <a:xfrm>
            <a:off x="12575183" y="11403410"/>
            <a:ext cx="10500122" cy="4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11" indent="-571511">
              <a:lnSpc>
                <a:spcPts val="3750"/>
              </a:lnSpc>
              <a:buSzPct val="100000"/>
              <a:buChar char="•"/>
            </a:pPr>
            <a:r>
              <a:rPr lang="en-US" sz="23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Campus trial programmes with performance guarantees</a:t>
            </a:r>
            <a:endParaRPr lang="en-US" sz="2333" dirty="0">
              <a:solidFill>
                <a:schemeClr val="bg1"/>
              </a:solidFill>
            </a:endParaRPr>
          </a:p>
        </p:txBody>
      </p:sp>
      <p:sp>
        <p:nvSpPr>
          <p:cNvPr id="27" name="Text 21"/>
          <p:cNvSpPr/>
          <p:nvPr/>
        </p:nvSpPr>
        <p:spPr>
          <a:xfrm>
            <a:off x="12575183" y="11992967"/>
            <a:ext cx="10500122" cy="483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11" indent="-571511">
              <a:lnSpc>
                <a:spcPts val="3750"/>
              </a:lnSpc>
              <a:buSzPct val="100000"/>
              <a:buChar char="•"/>
            </a:pPr>
            <a:r>
              <a:rPr lang="en-US" sz="23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marketing campaigns targeting decision-makers</a:t>
            </a:r>
            <a:endParaRPr lang="en-US" sz="2333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3728" y="1522710"/>
            <a:ext cx="6878638" cy="767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000"/>
              </a:lnSpc>
            </a:pPr>
            <a:r>
              <a:rPr lang="en-US" sz="4833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Cost–Benefit Analysis</a:t>
            </a:r>
            <a:endParaRPr lang="en-US" sz="4833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324570" y="3254193"/>
            <a:ext cx="7041357" cy="8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6333"/>
              </a:lnSpc>
            </a:pPr>
            <a:r>
              <a:rPr lang="en-US" sz="7333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₹8K</a:t>
            </a:r>
            <a:endParaRPr lang="en-US" sz="7333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309342" y="4371990"/>
            <a:ext cx="30716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000"/>
              </a:lnSpc>
            </a:pPr>
            <a:r>
              <a:rPr lang="en-US" sz="2333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Unit Cost Range</a:t>
            </a:r>
            <a:endParaRPr lang="en-US" sz="2333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324570" y="4903207"/>
            <a:ext cx="7041357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083"/>
              </a:lnSpc>
            </a:pPr>
            <a:r>
              <a:rPr lang="en-US" sz="23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Investment per device: ₹8000 including hardware and installation</a:t>
            </a:r>
            <a:endParaRPr lang="en-US" sz="2333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672909" y="3254193"/>
            <a:ext cx="7041357" cy="8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6333"/>
              </a:lnSpc>
            </a:pPr>
            <a:r>
              <a:rPr lang="en-US" sz="7333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14h</a:t>
            </a:r>
            <a:endParaRPr lang="en-US" sz="7333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657681" y="4371990"/>
            <a:ext cx="30716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000"/>
              </a:lnSpc>
            </a:pPr>
            <a:r>
              <a:rPr lang="en-US" sz="2333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Time Savings</a:t>
            </a:r>
            <a:endParaRPr lang="en-US" sz="2333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672909" y="4903207"/>
            <a:ext cx="7041357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083"/>
              </a:lnSpc>
            </a:pPr>
            <a:r>
              <a:rPr lang="en-US" sz="23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Reduces teacher administrative burden by 14 hours monthly</a:t>
            </a:r>
            <a:endParaRPr lang="en-US" sz="2333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6021249" y="3254193"/>
            <a:ext cx="7041357" cy="8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6333"/>
              </a:lnSpc>
            </a:pPr>
            <a:r>
              <a:rPr lang="en-US" sz="7333" dirty="0">
                <a:solidFill>
                  <a:schemeClr val="bg1"/>
                </a:solidFill>
              </a:rPr>
              <a:t>90-95 %</a:t>
            </a:r>
          </a:p>
        </p:txBody>
      </p:sp>
      <p:sp>
        <p:nvSpPr>
          <p:cNvPr id="10" name="Text 8"/>
          <p:cNvSpPr/>
          <p:nvPr/>
        </p:nvSpPr>
        <p:spPr>
          <a:xfrm>
            <a:off x="18006021" y="4371990"/>
            <a:ext cx="307161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000"/>
              </a:lnSpc>
            </a:pPr>
            <a:r>
              <a:rPr lang="en-US" sz="2333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Accuracy Rate</a:t>
            </a:r>
            <a:endParaRPr lang="en-US" sz="2333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6021249" y="4903207"/>
            <a:ext cx="7041357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083"/>
              </a:lnSpc>
            </a:pPr>
            <a:r>
              <a:rPr lang="en-US" sz="2333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Eliminates proxy attendance completely with facial recognition verification</a:t>
            </a:r>
            <a:endParaRPr lang="en-US" sz="2333" dirty="0">
              <a:solidFill>
                <a:schemeClr val="bg1"/>
              </a:solidFill>
            </a:endParaRPr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682678DD-F69A-8CB7-ABDB-BDF39FBBBEB1}"/>
              </a:ext>
            </a:extLst>
          </p:cNvPr>
          <p:cNvSpPr/>
          <p:nvPr/>
        </p:nvSpPr>
        <p:spPr>
          <a:xfrm>
            <a:off x="1324571" y="6729134"/>
            <a:ext cx="12358488" cy="886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917"/>
              </a:lnSpc>
            </a:pPr>
            <a:r>
              <a:rPr lang="en-US" sz="5500" dirty="0">
                <a:solidFill>
                  <a:schemeClr val="bg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Potential Intellectual Property (IP)</a:t>
            </a:r>
            <a:endParaRPr lang="en-US" sz="5500" dirty="0">
              <a:solidFill>
                <a:schemeClr val="bg1"/>
              </a:solidFill>
            </a:endParaRP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AFC81AD6-D41A-982F-C738-66EB0E8B388E}"/>
              </a:ext>
            </a:extLst>
          </p:cNvPr>
          <p:cNvSpPr/>
          <p:nvPr/>
        </p:nvSpPr>
        <p:spPr>
          <a:xfrm>
            <a:off x="1324571" y="8182093"/>
            <a:ext cx="21738035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167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comprehensive IP strategy protects core innovations whilst establishing strong brand identity and competitive advantages in the educational technology market.</a:t>
            </a:r>
            <a:endParaRPr lang="en-US" sz="2167" dirty="0">
              <a:solidFill>
                <a:schemeClr val="bg1"/>
              </a:solidFill>
            </a:endParaRPr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FAD09DFA-F046-F630-0195-FB2567AA6529}"/>
              </a:ext>
            </a:extLst>
          </p:cNvPr>
          <p:cNvSpPr/>
          <p:nvPr/>
        </p:nvSpPr>
        <p:spPr>
          <a:xfrm>
            <a:off x="1324571" y="8954608"/>
            <a:ext cx="7057033" cy="3920927"/>
          </a:xfrm>
          <a:prstGeom prst="roundRect">
            <a:avLst>
              <a:gd name="adj" fmla="val 3037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11AA7635-2DD8-2D47-E591-8DAD7018B631}"/>
              </a:ext>
            </a:extLst>
          </p:cNvPr>
          <p:cNvSpPr/>
          <p:nvPr/>
        </p:nvSpPr>
        <p:spPr>
          <a:xfrm>
            <a:off x="1362671" y="8992709"/>
            <a:ext cx="6980833" cy="850503"/>
          </a:xfrm>
          <a:prstGeom prst="roundRect">
            <a:avLst>
              <a:gd name="adj" fmla="val 8626"/>
            </a:avLst>
          </a:prstGeom>
          <a:solidFill>
            <a:srgbClr val="F7EDD4"/>
          </a:solidFill>
          <a:ln/>
        </p:spPr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E7994A43-5ACB-CD3F-319C-882A67EB68B5}"/>
              </a:ext>
            </a:extLst>
          </p:cNvPr>
          <p:cNvSpPr/>
          <p:nvPr/>
        </p:nvSpPr>
        <p:spPr>
          <a:xfrm>
            <a:off x="1646039" y="10126582"/>
            <a:ext cx="4157463" cy="442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17"/>
              </a:lnSpc>
            </a:pPr>
            <a:r>
              <a:rPr lang="en-US" sz="2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Patentable Innovations</a:t>
            </a:r>
            <a:endParaRPr lang="en-US" sz="275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99445408-A878-273A-9B02-62E96E34251D}"/>
              </a:ext>
            </a:extLst>
          </p:cNvPr>
          <p:cNvSpPr/>
          <p:nvPr/>
        </p:nvSpPr>
        <p:spPr>
          <a:xfrm>
            <a:off x="1646040" y="10739555"/>
            <a:ext cx="64140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167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Low-power facial recognition workflow optimised for classroom environments, plus unique offline-first architecture with seamless cloud synchronisation protocols.</a:t>
            </a:r>
            <a:endParaRPr lang="en-US" sz="2167" dirty="0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292313FB-F8DC-23C1-85B5-EA42329777A4}"/>
              </a:ext>
            </a:extLst>
          </p:cNvPr>
          <p:cNvSpPr/>
          <p:nvPr/>
        </p:nvSpPr>
        <p:spPr>
          <a:xfrm>
            <a:off x="8664972" y="8954608"/>
            <a:ext cx="7057033" cy="3920927"/>
          </a:xfrm>
          <a:prstGeom prst="roundRect">
            <a:avLst>
              <a:gd name="adj" fmla="val 3037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0EC897F5-50FA-3C28-77F4-E25F59A2FDAC}"/>
              </a:ext>
            </a:extLst>
          </p:cNvPr>
          <p:cNvSpPr/>
          <p:nvPr/>
        </p:nvSpPr>
        <p:spPr>
          <a:xfrm>
            <a:off x="8703072" y="8992709"/>
            <a:ext cx="6980833" cy="850503"/>
          </a:xfrm>
          <a:prstGeom prst="roundRect">
            <a:avLst>
              <a:gd name="adj" fmla="val 8626"/>
            </a:avLst>
          </a:prstGeom>
          <a:solidFill>
            <a:srgbClr val="F7EDD4"/>
          </a:solidFill>
          <a:ln/>
        </p:spPr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6AF3C33F-CF98-9E8B-EA41-8160BB7E4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80863" y="9198886"/>
            <a:ext cx="425252" cy="425252"/>
          </a:xfrm>
          <a:prstGeom prst="rect">
            <a:avLst/>
          </a:prstGeom>
        </p:spPr>
      </p:pic>
      <p:sp>
        <p:nvSpPr>
          <p:cNvPr id="34" name="Text 8">
            <a:extLst>
              <a:ext uri="{FF2B5EF4-FFF2-40B4-BE49-F238E27FC236}">
                <a16:creationId xmlns:a16="http://schemas.microsoft.com/office/drawing/2014/main" id="{05D7ABF0-79FA-CC41-040B-2253D5F1626B}"/>
              </a:ext>
            </a:extLst>
          </p:cNvPr>
          <p:cNvSpPr/>
          <p:nvPr/>
        </p:nvSpPr>
        <p:spPr>
          <a:xfrm>
            <a:off x="8986441" y="10126582"/>
            <a:ext cx="4023518" cy="442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17"/>
              </a:lnSpc>
            </a:pPr>
            <a:r>
              <a:rPr lang="en-US" sz="2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Trademark Protection</a:t>
            </a:r>
            <a:endParaRPr lang="en-US" sz="275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29C8CB9E-AD02-B4A6-172F-BAC5558626C1}"/>
              </a:ext>
            </a:extLst>
          </p:cNvPr>
          <p:cNvSpPr/>
          <p:nvPr/>
        </p:nvSpPr>
        <p:spPr>
          <a:xfrm>
            <a:off x="8986441" y="10739556"/>
            <a:ext cx="6414095" cy="1360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167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CLASSLENS brand name, distinctive logo design, and compelling tagline—establishing recognisable market identity and brand equity.</a:t>
            </a:r>
            <a:endParaRPr lang="en-US" sz="2167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CD553D30-4850-AEFB-B020-A9A86F1CE56D}"/>
              </a:ext>
            </a:extLst>
          </p:cNvPr>
          <p:cNvSpPr/>
          <p:nvPr/>
        </p:nvSpPr>
        <p:spPr>
          <a:xfrm>
            <a:off x="16005374" y="8954608"/>
            <a:ext cx="7057033" cy="3920927"/>
          </a:xfrm>
          <a:prstGeom prst="roundRect">
            <a:avLst>
              <a:gd name="adj" fmla="val 3037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6F1B4341-9E73-07BD-2A3A-7BCC6F6AA5EA}"/>
              </a:ext>
            </a:extLst>
          </p:cNvPr>
          <p:cNvSpPr/>
          <p:nvPr/>
        </p:nvSpPr>
        <p:spPr>
          <a:xfrm>
            <a:off x="16043474" y="8992709"/>
            <a:ext cx="6980833" cy="850503"/>
          </a:xfrm>
          <a:prstGeom prst="roundRect">
            <a:avLst>
              <a:gd name="adj" fmla="val 8626"/>
            </a:avLst>
          </a:prstGeom>
          <a:solidFill>
            <a:srgbClr val="F7EDD4"/>
          </a:solidFill>
          <a:ln/>
        </p:spPr>
      </p:sp>
      <p:pic>
        <p:nvPicPr>
          <p:cNvPr id="38" name="Image 2" descr="preencoded.png">
            <a:extLst>
              <a:ext uri="{FF2B5EF4-FFF2-40B4-BE49-F238E27FC236}">
                <a16:creationId xmlns:a16="http://schemas.microsoft.com/office/drawing/2014/main" id="{C40A2ED4-569D-9B21-B11E-D9F59B5643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21264" y="9198886"/>
            <a:ext cx="425252" cy="425252"/>
          </a:xfrm>
          <a:prstGeom prst="rect">
            <a:avLst/>
          </a:prstGeom>
        </p:spPr>
      </p:pic>
      <p:sp>
        <p:nvSpPr>
          <p:cNvPr id="39" name="Text 12">
            <a:extLst>
              <a:ext uri="{FF2B5EF4-FFF2-40B4-BE49-F238E27FC236}">
                <a16:creationId xmlns:a16="http://schemas.microsoft.com/office/drawing/2014/main" id="{E6BD0999-C529-3CF7-FEC2-08013FA0DA58}"/>
              </a:ext>
            </a:extLst>
          </p:cNvPr>
          <p:cNvSpPr/>
          <p:nvPr/>
        </p:nvSpPr>
        <p:spPr>
          <a:xfrm>
            <a:off x="16326842" y="10126582"/>
            <a:ext cx="3544093" cy="442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17"/>
              </a:lnSpc>
            </a:pPr>
            <a:r>
              <a:rPr lang="en-US" sz="2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Copyright Assets</a:t>
            </a:r>
            <a:endParaRPr lang="en-US" sz="275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EE6EEB5F-E58F-1D96-96F4-DB3E5239F033}"/>
              </a:ext>
            </a:extLst>
          </p:cNvPr>
          <p:cNvSpPr/>
          <p:nvPr/>
        </p:nvSpPr>
        <p:spPr>
          <a:xfrm>
            <a:off x="16326843" y="10739555"/>
            <a:ext cx="64140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167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 software codebase, intuitive dashboard user interface, proprietary recognition algorithms, and all associated documentation.</a:t>
            </a:r>
            <a:endParaRPr lang="en-US" sz="2167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2242" y="874714"/>
            <a:ext cx="7933730" cy="991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7750"/>
              </a:lnSpc>
            </a:pPr>
            <a:r>
              <a:rPr lang="en-US" sz="6167" dirty="0">
                <a:solidFill>
                  <a:schemeClr val="bg1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Future Roadmap</a:t>
            </a:r>
            <a:endParaRPr lang="en-US" sz="6167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112242" y="2500909"/>
            <a:ext cx="22162690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17"/>
              </a:lnSpc>
            </a:pPr>
            <a:r>
              <a:rPr lang="en-US" sz="2417" dirty="0">
                <a:solidFill>
                  <a:schemeClr val="bg1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ClassLens is built for evolution. Our vision extends beyond basic attendance to create a comprehensive smart campus ecosystem.</a:t>
            </a:r>
            <a:endParaRPr lang="en-US" sz="2417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12174537" y="3365501"/>
            <a:ext cx="38100" cy="9475588"/>
          </a:xfrm>
          <a:prstGeom prst="roundRect">
            <a:avLst>
              <a:gd name="adj" fmla="val 349841"/>
            </a:avLst>
          </a:prstGeom>
          <a:solidFill>
            <a:srgbClr val="C5D2CF"/>
          </a:solidFill>
          <a:ln/>
        </p:spPr>
      </p:sp>
      <p:sp>
        <p:nvSpPr>
          <p:cNvPr id="5" name="Shape 3"/>
          <p:cNvSpPr/>
          <p:nvPr/>
        </p:nvSpPr>
        <p:spPr>
          <a:xfrm>
            <a:off x="10922795" y="3703438"/>
            <a:ext cx="951905" cy="38100"/>
          </a:xfrm>
          <a:prstGeom prst="roundRect">
            <a:avLst>
              <a:gd name="adj" fmla="val 349841"/>
            </a:avLst>
          </a:prstGeom>
          <a:solidFill>
            <a:srgbClr val="C5D2CF"/>
          </a:solidFill>
          <a:ln/>
        </p:spPr>
      </p:sp>
      <p:sp>
        <p:nvSpPr>
          <p:cNvPr id="6" name="Shape 4"/>
          <p:cNvSpPr/>
          <p:nvPr/>
        </p:nvSpPr>
        <p:spPr>
          <a:xfrm>
            <a:off x="11836600" y="3365501"/>
            <a:ext cx="713978" cy="713978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955661" y="3425033"/>
            <a:ext cx="475853" cy="594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67"/>
              </a:lnSpc>
            </a:pPr>
            <a:r>
              <a:rPr lang="en-US" sz="3667" dirty="0">
                <a:solidFill>
                  <a:schemeClr val="bg1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3667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922367" y="3474442"/>
            <a:ext cx="4684513" cy="495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3833"/>
              </a:lnSpc>
            </a:pPr>
            <a:r>
              <a:rPr lang="en-US" sz="3083" dirty="0">
                <a:solidFill>
                  <a:schemeClr val="bg1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Jetson-Based Advanced AI</a:t>
            </a:r>
            <a:endParaRPr lang="en-US" sz="3083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112243" y="4160440"/>
            <a:ext cx="9494638" cy="152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3917"/>
              </a:lnSpc>
            </a:pPr>
            <a:r>
              <a:rPr lang="en-US" sz="2417" dirty="0">
                <a:solidFill>
                  <a:schemeClr val="bg1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Upgrade to NVIDIA Jetson platform for enhanced processing power, enabling more sophisticated facial recognition algorithms and faster multi-face detection.</a:t>
            </a:r>
            <a:endParaRPr lang="en-US" sz="2417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512476" y="5607447"/>
            <a:ext cx="951905" cy="38100"/>
          </a:xfrm>
          <a:prstGeom prst="roundRect">
            <a:avLst>
              <a:gd name="adj" fmla="val 349841"/>
            </a:avLst>
          </a:prstGeom>
          <a:solidFill>
            <a:srgbClr val="C5D2CF"/>
          </a:solidFill>
          <a:ln/>
        </p:spPr>
      </p:sp>
      <p:sp>
        <p:nvSpPr>
          <p:cNvPr id="11" name="Shape 9"/>
          <p:cNvSpPr/>
          <p:nvPr/>
        </p:nvSpPr>
        <p:spPr>
          <a:xfrm>
            <a:off x="11836600" y="5269509"/>
            <a:ext cx="713978" cy="713978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55661" y="5329039"/>
            <a:ext cx="475853" cy="594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67"/>
              </a:lnSpc>
            </a:pPr>
            <a:r>
              <a:rPr lang="en-US" sz="3667" dirty="0">
                <a:solidFill>
                  <a:schemeClr val="bg1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3667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780295" y="5378450"/>
            <a:ext cx="3966765" cy="495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33"/>
              </a:lnSpc>
            </a:pPr>
            <a:r>
              <a:rPr lang="en-US" sz="3083" dirty="0">
                <a:solidFill>
                  <a:schemeClr val="bg1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3D Liveness Detection</a:t>
            </a:r>
            <a:endParaRPr lang="en-US" sz="3083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780295" y="6064448"/>
            <a:ext cx="9494638" cy="152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917"/>
              </a:lnSpc>
            </a:pPr>
            <a:r>
              <a:rPr lang="en-US" sz="2417" dirty="0">
                <a:solidFill>
                  <a:schemeClr val="bg1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Implement depth-sensing anti-spoof technology to detect sophisticated fraud attempts using masks, videos, or printed photographs.</a:t>
            </a:r>
            <a:endParaRPr lang="en-US" sz="2417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922795" y="7248525"/>
            <a:ext cx="951905" cy="38100"/>
          </a:xfrm>
          <a:prstGeom prst="roundRect">
            <a:avLst>
              <a:gd name="adj" fmla="val 349841"/>
            </a:avLst>
          </a:prstGeom>
          <a:solidFill>
            <a:srgbClr val="C5D2C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36600" y="6910588"/>
            <a:ext cx="713978" cy="713978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955661" y="6970118"/>
            <a:ext cx="475853" cy="594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67"/>
              </a:lnSpc>
            </a:pPr>
            <a:r>
              <a:rPr lang="en-US" sz="3667" dirty="0">
                <a:solidFill>
                  <a:schemeClr val="bg1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3667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47779" y="7019528"/>
            <a:ext cx="4559102" cy="495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3833"/>
              </a:lnSpc>
            </a:pPr>
            <a:r>
              <a:rPr lang="en-US" sz="3083" dirty="0">
                <a:solidFill>
                  <a:schemeClr val="bg1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Smart Campus Integration</a:t>
            </a:r>
            <a:endParaRPr lang="en-US" sz="3083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12243" y="7705527"/>
            <a:ext cx="9494638" cy="152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3917"/>
              </a:lnSpc>
            </a:pPr>
            <a:r>
              <a:rPr lang="en-US" sz="2417" dirty="0">
                <a:solidFill>
                  <a:schemeClr val="bg1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Expand beyond attendance to library access and exam hall verification for a unified campus identity system.</a:t>
            </a:r>
            <a:endParaRPr lang="en-US" sz="2417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2512476" y="8889802"/>
            <a:ext cx="951905" cy="38100"/>
          </a:xfrm>
          <a:prstGeom prst="roundRect">
            <a:avLst>
              <a:gd name="adj" fmla="val 349841"/>
            </a:avLst>
          </a:prstGeom>
          <a:solidFill>
            <a:srgbClr val="C5D2C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36600" y="8551864"/>
            <a:ext cx="713978" cy="713978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955661" y="8611394"/>
            <a:ext cx="475853" cy="594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67"/>
              </a:lnSpc>
            </a:pPr>
            <a:r>
              <a:rPr lang="en-US" sz="3667" dirty="0">
                <a:solidFill>
                  <a:schemeClr val="bg1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3667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780295" y="8660805"/>
            <a:ext cx="3966765" cy="495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33"/>
              </a:lnSpc>
            </a:pPr>
            <a:r>
              <a:rPr lang="en-US" sz="3083" dirty="0">
                <a:solidFill>
                  <a:schemeClr val="bg1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Mobile App Ecosystem</a:t>
            </a:r>
            <a:endParaRPr lang="en-US" sz="3083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780295" y="9346803"/>
            <a:ext cx="9494638" cy="152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917"/>
              </a:lnSpc>
            </a:pPr>
            <a:r>
              <a:rPr lang="en-US" sz="2417" dirty="0">
                <a:solidFill>
                  <a:schemeClr val="bg1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Launch native iOS and Android apps for students, parents, and faculty with push notifications, analytics dashboards, and leave management.</a:t>
            </a:r>
            <a:endParaRPr lang="en-US" sz="2417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922795" y="10531078"/>
            <a:ext cx="951905" cy="38100"/>
          </a:xfrm>
          <a:prstGeom prst="roundRect">
            <a:avLst>
              <a:gd name="adj" fmla="val 349841"/>
            </a:avLst>
          </a:prstGeom>
          <a:solidFill>
            <a:srgbClr val="C5D2CF"/>
          </a:solidFill>
          <a:ln/>
        </p:spPr>
      </p:sp>
      <p:sp>
        <p:nvSpPr>
          <p:cNvPr id="26" name="Shape 24"/>
          <p:cNvSpPr/>
          <p:nvPr/>
        </p:nvSpPr>
        <p:spPr>
          <a:xfrm>
            <a:off x="11836600" y="10193139"/>
            <a:ext cx="713978" cy="713978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955661" y="10252671"/>
            <a:ext cx="475853" cy="594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67"/>
              </a:lnSpc>
            </a:pPr>
            <a:r>
              <a:rPr lang="en-US" sz="3667" dirty="0">
                <a:solidFill>
                  <a:schemeClr val="bg1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</a:t>
            </a:r>
            <a:endParaRPr lang="en-US" sz="3667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882480" y="10302082"/>
            <a:ext cx="4724400" cy="495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3833"/>
              </a:lnSpc>
            </a:pPr>
            <a:r>
              <a:rPr lang="en-US" sz="3083" dirty="0">
                <a:solidFill>
                  <a:schemeClr val="bg1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Predictive Analytics Engine</a:t>
            </a:r>
            <a:endParaRPr lang="en-US" sz="3083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12243" y="10988080"/>
            <a:ext cx="9494638" cy="152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3917"/>
              </a:lnSpc>
            </a:pPr>
            <a:r>
              <a:rPr lang="en-US" sz="2417" dirty="0">
                <a:solidFill>
                  <a:schemeClr val="bg1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Deploy machine learning models to identify attendance patterns, predict at-risk students, and provide early intervention recommendations to educators.</a:t>
            </a:r>
            <a:endParaRPr lang="en-US" sz="2417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DF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g35e0a9deb46_0_566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04784" y="0"/>
            <a:ext cx="12511064" cy="1267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g35e0a9deb46_0_566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041530" y="5689600"/>
            <a:ext cx="13057232" cy="100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5e0a9deb46_0_566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141292" y="8623200"/>
            <a:ext cx="4229629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g35e0a9deb46_0_566"/>
          <p:cNvSpPr/>
          <p:nvPr/>
        </p:nvSpPr>
        <p:spPr>
          <a:xfrm>
            <a:off x="23370921" y="10515600"/>
            <a:ext cx="1016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g35e0a9deb46_0_566"/>
          <p:cNvSpPr/>
          <p:nvPr/>
        </p:nvSpPr>
        <p:spPr>
          <a:xfrm>
            <a:off x="3670759" y="3975100"/>
            <a:ext cx="17032800" cy="70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g35e0a9deb46_0_566"/>
          <p:cNvSpPr/>
          <p:nvPr/>
        </p:nvSpPr>
        <p:spPr>
          <a:xfrm>
            <a:off x="3670759" y="3975100"/>
            <a:ext cx="170328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g35e0a9deb46_0_566"/>
          <p:cNvSpPr/>
          <p:nvPr/>
        </p:nvSpPr>
        <p:spPr>
          <a:xfrm>
            <a:off x="3670759" y="5651500"/>
            <a:ext cx="170328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g35e0a9deb46_0_566"/>
          <p:cNvSpPr/>
          <p:nvPr/>
        </p:nvSpPr>
        <p:spPr>
          <a:xfrm>
            <a:off x="3670759" y="6845300"/>
            <a:ext cx="170328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g35e0a9deb46_0_566"/>
          <p:cNvSpPr/>
          <p:nvPr/>
        </p:nvSpPr>
        <p:spPr>
          <a:xfrm>
            <a:off x="3670759" y="8039100"/>
            <a:ext cx="170328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g35e0a9deb46_0_566"/>
          <p:cNvSpPr/>
          <p:nvPr/>
        </p:nvSpPr>
        <p:spPr>
          <a:xfrm>
            <a:off x="3670759" y="9232900"/>
            <a:ext cx="170328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g35e0a9deb46_0_566"/>
          <p:cNvSpPr/>
          <p:nvPr/>
        </p:nvSpPr>
        <p:spPr>
          <a:xfrm>
            <a:off x="3670759" y="10426700"/>
            <a:ext cx="17032800" cy="5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C345DF-DE92-FD0A-81B9-70088B4FE61F}"/>
              </a:ext>
            </a:extLst>
          </p:cNvPr>
          <p:cNvSpPr txBox="1"/>
          <p:nvPr/>
        </p:nvSpPr>
        <p:spPr>
          <a:xfrm>
            <a:off x="6448312" y="2446397"/>
            <a:ext cx="1113477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800" dirty="0">
                <a:latin typeface="Chelsea Market" panose="020B0604020202020204" charset="0"/>
              </a:rPr>
              <a:t>CONCLUSION</a:t>
            </a:r>
            <a:endParaRPr lang="en-IN" sz="12800" dirty="0">
              <a:latin typeface="Chelsea Marke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534A66-047F-A7D3-2804-4B0ABBCBE095}"/>
              </a:ext>
            </a:extLst>
          </p:cNvPr>
          <p:cNvSpPr txBox="1"/>
          <p:nvPr/>
        </p:nvSpPr>
        <p:spPr>
          <a:xfrm>
            <a:off x="3149805" y="4980877"/>
            <a:ext cx="17731792" cy="4624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latin typeface="DM Sans" pitchFamily="2" charset="0"/>
              </a:rPr>
              <a:t>This project successfully demonstrates a </a:t>
            </a:r>
            <a:r>
              <a:rPr lang="en-US" sz="4000" b="1" dirty="0">
                <a:latin typeface="DM Sans" pitchFamily="2" charset="0"/>
              </a:rPr>
              <a:t>smart, contactless attendance system</a:t>
            </a:r>
            <a:r>
              <a:rPr lang="en-US" sz="4000" dirty="0">
                <a:latin typeface="DM Sans" pitchFamily="2" charset="0"/>
              </a:rPr>
              <a:t> using ESP32 &amp; Husky Lens with real-time face recognition, LCD feedback, and automated Google sheet logging.</a:t>
            </a:r>
            <a:br>
              <a:rPr lang="en-US" sz="4000" dirty="0">
                <a:latin typeface="DM Sans" pitchFamily="2" charset="0"/>
              </a:rPr>
            </a:br>
            <a:r>
              <a:rPr lang="en-US" sz="4000" dirty="0">
                <a:latin typeface="DM Sans" pitchFamily="2" charset="0"/>
              </a:rPr>
              <a:t>It enhances efficiency, reduces manual effort, and provides a scalable solution for </a:t>
            </a:r>
            <a:r>
              <a:rPr lang="en-US" sz="4000" b="1" dirty="0">
                <a:latin typeface="DM Sans" pitchFamily="2" charset="0"/>
              </a:rPr>
              <a:t>modern educational institutions</a:t>
            </a:r>
            <a:r>
              <a:rPr lang="en-US" sz="4000" dirty="0">
                <a:latin typeface="DM Sans" pitchFamily="2" charset="0"/>
              </a:rPr>
              <a:t>.</a:t>
            </a:r>
            <a:endParaRPr lang="en-IN" sz="4000" dirty="0">
              <a:latin typeface="DM 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784815-1DC7-ADBA-1C7B-3E5AA00E39EE}"/>
              </a:ext>
            </a:extLst>
          </p:cNvPr>
          <p:cNvSpPr txBox="1"/>
          <p:nvPr/>
        </p:nvSpPr>
        <p:spPr>
          <a:xfrm>
            <a:off x="13919200" y="10109200"/>
            <a:ext cx="10185400" cy="1414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chemeClr val="tx1"/>
                </a:solidFill>
                <a:latin typeface="DM Sans" pitchFamily="2" charset="0"/>
              </a:rPr>
              <a:t>“A step towards smarter, automated, and reliable attendance management.”</a:t>
            </a:r>
            <a:endParaRPr lang="en-IN" sz="3000" b="1" dirty="0">
              <a:solidFill>
                <a:schemeClr val="tx1"/>
              </a:solidFill>
              <a:latin typeface="DM Sans" pitchFamily="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7AE1BB-67FF-E74E-315A-EC595816A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600" y="3271837"/>
            <a:ext cx="12753975" cy="71723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749969-021D-5538-2F5B-D7B800E98105}"/>
              </a:ext>
            </a:extLst>
          </p:cNvPr>
          <p:cNvSpPr txBox="1"/>
          <p:nvPr/>
        </p:nvSpPr>
        <p:spPr>
          <a:xfrm>
            <a:off x="9535886" y="1287624"/>
            <a:ext cx="25234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Prototype 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131460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DF1"/>
        </a:solidFill>
        <a:effectLst/>
      </p:bgPr>
    </p:bg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g35e0a9deb46_0_660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0768" y="-774700"/>
            <a:ext cx="14683035" cy="1526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g35e0a9deb46_0_660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395943" y="8636000"/>
            <a:ext cx="3746968" cy="374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g35e0a9deb46_0_660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02429" y="1765300"/>
            <a:ext cx="3442130" cy="3441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g35e0a9deb46_0_660"/>
          <p:cNvSpPr/>
          <p:nvPr/>
        </p:nvSpPr>
        <p:spPr>
          <a:xfrm>
            <a:off x="23370921" y="10515600"/>
            <a:ext cx="10161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g35e0a9deb46_0_660"/>
          <p:cNvSpPr/>
          <p:nvPr/>
        </p:nvSpPr>
        <p:spPr>
          <a:xfrm>
            <a:off x="8332807" y="3035300"/>
            <a:ext cx="9572700" cy="29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8000"/>
              <a:buFont typeface="Chelsea Market"/>
              <a:buNone/>
            </a:pPr>
            <a:r>
              <a:rPr lang="en-US" sz="10000" b="0" i="0" u="none" strike="noStrike" cap="none" dirty="0">
                <a:solidFill>
                  <a:srgbClr val="272727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Thank you </a:t>
            </a:r>
            <a:endParaRPr sz="10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g35e0a9deb46_0_660"/>
          <p:cNvSpPr/>
          <p:nvPr/>
        </p:nvSpPr>
        <p:spPr>
          <a:xfrm>
            <a:off x="6659410" y="5295800"/>
            <a:ext cx="12444393" cy="53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4000" dirty="0">
                <a:latin typeface="DM Sans" pitchFamily="2" charset="0"/>
              </a:rPr>
              <a:t>We truly appreciate your time and kind attention.</a:t>
            </a:r>
            <a:br>
              <a:rPr lang="en-US" sz="4000" dirty="0">
                <a:latin typeface="DM Sans" pitchFamily="2" charset="0"/>
              </a:rPr>
            </a:br>
            <a:r>
              <a:rPr lang="en-US" sz="4000" dirty="0">
                <a:latin typeface="DM Sans" pitchFamily="2" charset="0"/>
              </a:rPr>
              <a:t>It was our pleasure to present this work before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</TotalTime>
  <Words>2123</Words>
  <Application>Microsoft Office PowerPoint</Application>
  <PresentationFormat>Custom</PresentationFormat>
  <Paragraphs>325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Courier New</vt:lpstr>
      <vt:lpstr>Arial</vt:lpstr>
      <vt:lpstr>DM Sans</vt:lpstr>
      <vt:lpstr>Chelsea Market</vt:lpstr>
      <vt:lpstr>Times New Roman</vt:lpstr>
      <vt:lpstr>Martel Sans</vt:lpstr>
      <vt:lpstr>Calibri</vt:lpstr>
      <vt:lpstr>Cabin</vt:lpstr>
      <vt:lpstr>Libre Baskerville</vt:lpstr>
      <vt:lpstr>Kanit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UDAY BHASKAR</cp:lastModifiedBy>
  <cp:revision>144</cp:revision>
  <dcterms:created xsi:type="dcterms:W3CDTF">2025-05-28T09:06:14Z</dcterms:created>
  <dcterms:modified xsi:type="dcterms:W3CDTF">2026-05-01T12:07:40Z</dcterms:modified>
</cp:coreProperties>
</file>